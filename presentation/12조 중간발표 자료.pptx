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62" r:id="rId9"/>
    <p:sldId id="272" r:id="rId10"/>
    <p:sldId id="264" r:id="rId11"/>
    <p:sldId id="265" r:id="rId12"/>
    <p:sldId id="266" r:id="rId13"/>
    <p:sldId id="273" r:id="rId14"/>
    <p:sldId id="267" r:id="rId15"/>
    <p:sldId id="274" r:id="rId16"/>
    <p:sldId id="270" r:id="rId17"/>
    <p:sldId id="275" r:id="rId18"/>
    <p:sldId id="276" r:id="rId19"/>
    <p:sldId id="269" r:id="rId20"/>
  </p:sldIdLst>
  <p:sldSz cx="18288000" cy="10287000"/>
  <p:notesSz cx="6858000" cy="9144000"/>
  <p:embeddedFontLst>
    <p:embeddedFont>
      <p:font typeface="Pretendard Bold" panose="02000803000000020004" pitchFamily="2" charset="-127"/>
      <p:bold r:id="rId22"/>
    </p:embeddedFont>
    <p:embeddedFont>
      <p:font typeface="Pretendard Medium" panose="02000603000000020004" pitchFamily="2" charset="-127"/>
      <p:regular r:id="rId23"/>
      <p:bold r:id="rId24"/>
    </p:embeddedFont>
    <p:embeddedFont>
      <p:font typeface="Pretendard Regular" panose="02000503000000020004" pitchFamily="2" charset="-127"/>
      <p:regular r:id="rId25"/>
    </p:embeddedFont>
    <p:embeddedFont>
      <p:font typeface="Pretendard SemiBold" panose="02000703000000020004" pitchFamily="2" charset="-127"/>
      <p:regular r:id="rId26"/>
      <p:bold r:id="rId27"/>
    </p:embeddedFont>
    <p:embeddedFont>
      <p:font typeface="맑은 고딕" panose="020B0503020000020004" pitchFamily="34" charset="-127"/>
      <p:regular r:id="rId28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86" autoAdjust="0"/>
    <p:restoredTop sz="94589" autoAdjust="0"/>
  </p:normalViewPr>
  <p:slideViewPr>
    <p:cSldViewPr>
      <p:cViewPr varScale="1">
        <p:scale>
          <a:sx n="80" d="100"/>
          <a:sy n="80" d="100"/>
        </p:scale>
        <p:origin x="696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38A422-94CA-4942-9C1C-95F7B5BD9415}" type="datetimeFigureOut">
              <a:rPr lang="ko-KR" altLang="en-US" smtClean="0"/>
              <a:t>2026. 10. 14.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40014E-4124-4578-B8CC-7618C8B879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1473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가설을 확인하기 위해 저희는 수업에서 배운 Mom Test의 세 가지 규칙을 인터뷰 대본에 그대로 옮겨 적었습니다. 화면은 저희가 2차 인터뷰 때 실제로 들고 간 대본입니다.</a:t>
            </a:r>
          </a:p>
          <a:p>
            <a:r>
              <a:t>첫째, 아이디어는 끝까지 말하지 않았습니다. 인터뷰가 끝나도 사장님이 저희가 무엇을 만드는지 모르시는 것을 성공으로 정했고, "가격 공유하면 좋지 않을까요?"처럼 해결책을 알려 주는 질문은 금지했습니다.</a:t>
            </a:r>
          </a:p>
          <a:p>
            <a:r>
              <a:t>둘째, "보통"이 아니라 "그때"를 물었습니다. "비교해 보신 적 있으세요?" 대신 "가장 최근에 새로 거래처나 업체를 정하셨던 때 얘기를 처음부터 들려주세요", "몇 군데에 연락해 보셨어요?"처럼 과거의 사건 하나와 숫자를 물었습니다.</a:t>
            </a:r>
          </a:p>
          <a:p>
            <a:r>
              <a:t>셋째, 적게 말하고 많이 들었습니다. 침묵 3초는 기다렸고, 사장님이 "귀찮다"고 하시면 "방금 그렇게 말씀하셨는데, 그때 상황을 조금만 더 자세히 말씀해 주시겠어요?"라고 되물었습니다.</a:t>
            </a:r>
          </a:p>
          <a:p>
            <a:r>
              <a:t>이렇게 가게 사장님 열두 분과 업계 전문가 한 분, 모두 13건의 인터뷰를 진행했습니다.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0014E-4124-4578-B8CC-7618C8B879C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978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그렇게 저희 주제는 확정되었습니다.</a:t>
            </a:r>
          </a:p>
          <a:p>
            <a:r>
              <a:t>저희는 정보가 없는, 베테랑이 아닌 사장님들의 정보격차 문제를 해결해보겠습니다.</a:t>
            </a:r>
          </a:p>
          <a:p>
            <a:r>
              <a:t>그림의 왼쪽처럼 오래 장사하신 사장님은 고기, 채소, 기름처럼 품목마다 아는 업체가 있습니다. 하지만 오른쪽의 개업 초기 사장님은 어디에 어떤 업체가 있는지부터 알기 어렵습니다. 그리고 그 사이의 정보는 주변 사람을 통해서만 알 수 있었습니다. 이 격차가 저희가 풀고자 하는 문제입니다.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그렇다면 지금 사장님들은 이 정보의 격차를 어떻게 메우고 계실까요? 인터뷰에서는 크게 세 가지 방법이 보였습니다.</a:t>
            </a:r>
          </a:p>
          <a:p>
            <a:r>
              <a:t>첫째, 직접 발품을 팝니다. 개업 초기에 큰 업체를 10여 곳 다녀 보신 사장님이 계셨습니다. 둘째, 친구에게 물어보신 한식주점 사장님의 인터뷰 경험이 근거가 되었습니다. 마지막 세번째는 찾아오는 업체를 기다리는 것으로, 1년에 서너 번 정도의 빈도로 업체가 홍보를 다닌다고 합니다.</a:t>
            </a:r>
          </a:p>
          <a:p>
            <a:r>
              <a:t>쿠팡 같은 온라인몰도 쓰고 계셨지만, 이미 아는 물건을 더 싸게 사기 위해 종종 끼워 넣는 용도였습니다.</a:t>
            </a:r>
          </a:p>
          <a:p>
            <a:r>
              <a:t>천하장사는 이렇게 흩어진 방법을 한곳에 모아, 동네에 어떤 업체가 있는지와 이웃이 실제로 어디를 쓰는지를 한 번에 보여드리는 것을 목표로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다음으로 미니 온톨로지를 설명드리겠습니다. 미니 온톨로지는 앞서 말씀드린 두 가지 기능을 사장님의 입장에서 개념과 관계로 정리한 그림입니다.</a:t>
            </a:r>
          </a:p>
          <a:p>
            <a:r>
              <a:t>중심에는 개업 초기, 또는 초보 사장님이 있습니다. 사장님이 업체에 닿는 길은 크게 세 가지입니다.</a:t>
            </a:r>
          </a:p>
          <a:p>
            <a:r>
              <a:t>첫 번째는 조건 검색입니다. 사장님이 품목, 주문량, 거리 같은 조건을 입력하면, 그 조건에 맞는 업체들이 리스트업 됩니다.</a:t>
            </a:r>
          </a:p>
          <a:p>
            <a:r>
              <a:t>두 번째는 아는 가게의 거래처입니다. 사장님이 이웃이나 지인의 가게를 살펴보면, 그 가게가 팔로우하고 있는 업체를 확인할 수 있습니다. 앞 가게 사장님과 이야기를 나누다가 폐유 업체를 바꾼 사장님처럼, 인터뷰에서 사장님들이 실제로 업체를 찾던 방식을 그대로 옮긴 길입니다.</a:t>
            </a:r>
          </a:p>
          <a:p>
            <a:r>
              <a:t>세 번째는 받아 써 본 경험입니다. 사장님은 거래해 본 업체에 대해 배송 누락이나 품질 같은 후기를 남기고, 이 후기가 다시 업체를 평가하는 정보가 됩니다.</a:t>
            </a:r>
          </a:p>
          <a:p>
            <a:r>
              <a:t>그리고 업체는 서비스와 품목을 판매합니다. 품목마다 가격과 최소 주문량이 붙어 있고, 이 정보가 뒤에서 말씀드릴 SPEC의 기준으로 바로 이어집니다.</a:t>
            </a:r>
          </a:p>
          <a:p>
            <a:r>
              <a:t>이렇게 세 길은 모두 업체로 이어지고, 사장님은 거래처 수와 후기를 확인한 뒤 바로 문의를 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미니 온톨로지에서 저희가 가장 중요하게 본 판단은 업체와 거래처를 나눈 것입니다.</a:t>
            </a:r>
          </a:p>
          <a:p>
            <a:r>
              <a:t>한 닭갈비집 사장님은 "제가 가서 사오는 마트는 거래처라고 할 수 없는 게"라고 말씀하시며 스스로 둘을 구분하셨습니다.</a:t>
            </a:r>
          </a:p>
          <a:p>
            <a:r>
              <a:t>그래서 저희도 나눴습니다. 업체는 마트와 같습니다. 누구나 가서 볼 수 있고, 배송 지역이나 최소 주문량처럼 겉으로 드러난 정보를 확인할 수 있습니다.</a:t>
            </a:r>
          </a:p>
          <a:p>
            <a:r>
              <a:t>반면 거래처는 우리 가게로 물건이 실제로 들어오는 관계입니다. 트럭이 오가고 손을 맞잡은 곳에는, 실제로 받은 가격이나 배송 누락처럼 받아 써 봐야 아는 정보가 쌓입니다. 저희가 말씀드린 정보의 격차는 바로 이 두 번째 정보에서 생기기 때문입니다.</a:t>
            </a:r>
          </a:p>
          <a:p>
            <a:r>
              <a:t>그리고 이 구분이 바로 다음에 보여드릴 SPEC의 기준으로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C57A7-879E-6A85-DF33-1B62B0D58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8F3145-35FD-4E96-F5C0-F92514A0B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6A9B14-99C7-3741-5171-892EAB71F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300408-C519-4F45-AC61-DFC4A20A5D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0014E-4124-4578-B8CC-7618C8B879C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9846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그렇다면 이 SPEC은 어떻게 확인할까요?</a:t>
            </a:r>
          </a:p>
          <a:p>
            <a:r>
              <a:t>저희는 인터뷰에서 나온 사장님의 말을 온톨로지의 개념으로 정리하고, 그 개념을 SPEC의 기준으로, 다시 그 기준을 테스트용 예시 데이터로 옮겼습니다.</a:t>
            </a:r>
          </a:p>
          <a:p>
            <a:r>
              <a:t>예를 들어 배송 지역이 동탄인 업체를 하나 만들어 두고 영통동 가게에서 검색하면, 그 업체는 목록에 남아 있되 '배송 지역 밖' 표시가 붙어 있어야 합니다. 결과가 다르면 테스트는 실패합니다.</a:t>
            </a:r>
          </a:p>
          <a:p>
            <a:r>
              <a:t>이렇게 모든 기준은 인터뷰까지 거슬러 올라갈 수 있고, 근거를 찾지 못한 기준은 SPEC에 넣지 않았습니다.</a:t>
            </a:r>
          </a:p>
          <a:p>
            <a:r>
              <a:t>저번에 강의해주신 카카오 황민호 수석님의 harness-100 스킬에서 테스터 스킬을 골라 사용할 생각이며, 강의에서 배운 내용을 더해 저희만의 엔지니어팀으로 용이하게 사용할 계획입니다.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마지막으로 다음 단계입니다.</a:t>
            </a:r>
          </a:p>
          <a:p>
            <a:r>
              <a:t>지금까지는 이미 장사를 하고 계신 사장님들의 지난 경험을 들었습니다. 다음에는 개업을 준비하고 계신 사장님을 만나, 업체를 처음 정하는 과정을 직접 따라가 보려 합니다.</a:t>
            </a:r>
          </a:p>
          <a:p>
            <a:r>
              <a:t>그리고 사장님들이 자신의 거래처를 이웃에게 보여 주실지, 커뮤니티에서 대화를 나누실지를 같은 방식으로 확인하겠습니다. 이번 학기 안에 한 지역, 한두 개 품목군의 MVP로 이 질문들에 답을 내는 것이 목표입니다.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svg"/><Relationship Id="rId7" Type="http://schemas.openxmlformats.org/officeDocument/2006/relationships/image" Target="../media/image9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2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37.svg"/><Relationship Id="rId3" Type="http://schemas.openxmlformats.org/officeDocument/2006/relationships/image" Target="../media/image28.svg"/><Relationship Id="rId7" Type="http://schemas.openxmlformats.org/officeDocument/2006/relationships/image" Target="../media/image31.svg"/><Relationship Id="rId12" Type="http://schemas.openxmlformats.org/officeDocument/2006/relationships/image" Target="../media/image36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11" Type="http://schemas.openxmlformats.org/officeDocument/2006/relationships/image" Target="../media/image35.svg"/><Relationship Id="rId5" Type="http://schemas.openxmlformats.org/officeDocument/2006/relationships/image" Target="../media/image29.svg"/><Relationship Id="rId15" Type="http://schemas.openxmlformats.org/officeDocument/2006/relationships/image" Target="../media/image12.png"/><Relationship Id="rId10" Type="http://schemas.openxmlformats.org/officeDocument/2006/relationships/image" Target="../media/image34.svg"/><Relationship Id="rId4" Type="http://schemas.openxmlformats.org/officeDocument/2006/relationships/image" Target="../media/image8.svg"/><Relationship Id="rId9" Type="http://schemas.openxmlformats.org/officeDocument/2006/relationships/image" Target="../media/image33.svg"/><Relationship Id="rId14" Type="http://schemas.openxmlformats.org/officeDocument/2006/relationships/image" Target="../media/image3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0.svg"/><Relationship Id="rId7" Type="http://schemas.openxmlformats.org/officeDocument/2006/relationships/image" Target="../media/image43.svg"/><Relationship Id="rId2" Type="http://schemas.openxmlformats.org/officeDocument/2006/relationships/image" Target="../media/image3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svg"/><Relationship Id="rId5" Type="http://schemas.openxmlformats.org/officeDocument/2006/relationships/image" Target="../media/image41.sv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2667">
              <a:srgbClr val="FFFFFF"/>
            </a:gs>
            <a:gs pos="100000">
              <a:srgbClr val="FFEDD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82700" y="2324100"/>
            <a:ext cx="8420100" cy="2578100"/>
          </a:xfrm>
          <a:prstGeom prst="rect">
            <a:avLst/>
          </a:prstGeom>
        </p:spPr>
        <p:txBody>
          <a:bodyPr lIns="0" tIns="45720" rIns="0" bIns="0" rtlCol="0" anchor="t"/>
          <a:lstStyle/>
          <a:p>
            <a:pPr lvl="0" algn="l">
              <a:lnSpc>
                <a:spcPct val="112050"/>
              </a:lnSpc>
            </a:pPr>
            <a:r>
              <a:rPr lang="en-US" sz="14400" b="1" i="0" u="none" strike="noStrike" spc="-200" dirty="0" err="1">
                <a:solidFill>
                  <a:srgbClr val="1B1B1B"/>
                </a:solidFill>
                <a:latin typeface="+mn-ea"/>
                <a:cs typeface="S-Core Dream 4 Regular"/>
              </a:rPr>
              <a:t>천하장사</a:t>
            </a:r>
            <a:endParaRPr lang="en-US" sz="14400" b="1" i="0" u="none" strike="noStrike" spc="-200" dirty="0">
              <a:solidFill>
                <a:srgbClr val="1B1B1B"/>
              </a:solidFill>
              <a:latin typeface="+mn-ea"/>
              <a:cs typeface="S-Core Dream 4 Regular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435100" y="5130800"/>
            <a:ext cx="8140700" cy="69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799" i="0" u="none" strike="noStrike" dirty="0" err="1">
                <a:solidFill>
                  <a:srgbClr val="1B1B1B"/>
                </a:solidFill>
                <a:latin typeface="+mn-ea"/>
                <a:cs typeface="S-Core Dream 4 Regular"/>
              </a:rPr>
              <a:t>거래처</a:t>
            </a:r>
            <a:r>
              <a:rPr lang="en-US" sz="3799" i="0" u="none" strike="noStrike" dirty="0">
                <a:solidFill>
                  <a:srgbClr val="1B1B1B"/>
                </a:solidFill>
                <a:latin typeface="+mn-ea"/>
                <a:cs typeface="S-Core Dream 4 Regular"/>
              </a:rPr>
              <a:t> </a:t>
            </a:r>
            <a:r>
              <a:rPr lang="en-US" sz="3799" i="0" u="none" strike="noStrike" dirty="0" err="1">
                <a:solidFill>
                  <a:srgbClr val="1B1B1B"/>
                </a:solidFill>
                <a:latin typeface="+mn-ea"/>
                <a:cs typeface="S-Core Dream 4 Regular"/>
              </a:rPr>
              <a:t>탐색·공유</a:t>
            </a:r>
            <a:r>
              <a:rPr lang="en-US" sz="3799" i="0" u="none" strike="noStrike" dirty="0">
                <a:solidFill>
                  <a:srgbClr val="1B1B1B"/>
                </a:solidFill>
                <a:latin typeface="+mn-ea"/>
                <a:cs typeface="S-Core Dream 4 Regular"/>
              </a:rPr>
              <a:t> </a:t>
            </a:r>
            <a:r>
              <a:rPr lang="en-US" sz="3799" i="0" u="none" strike="noStrike" dirty="0" err="1">
                <a:solidFill>
                  <a:srgbClr val="1B1B1B"/>
                </a:solidFill>
                <a:latin typeface="+mn-ea"/>
                <a:cs typeface="S-Core Dream 4 Regular"/>
              </a:rPr>
              <a:t>정보</a:t>
            </a:r>
            <a:r>
              <a:rPr lang="en-US" sz="3799" i="0" u="none" strike="noStrike" dirty="0">
                <a:solidFill>
                  <a:srgbClr val="1B1B1B"/>
                </a:solidFill>
                <a:latin typeface="+mn-ea"/>
                <a:cs typeface="S-Core Dream 4 Regular"/>
              </a:rPr>
              <a:t> </a:t>
            </a:r>
            <a:r>
              <a:rPr lang="en-US" sz="3799" i="0" u="none" strike="noStrike" dirty="0" err="1">
                <a:solidFill>
                  <a:srgbClr val="1B1B1B"/>
                </a:solidFill>
                <a:latin typeface="+mn-ea"/>
                <a:cs typeface="S-Core Dream 4 Regular"/>
              </a:rPr>
              <a:t>커뮤니티</a:t>
            </a:r>
            <a:endParaRPr lang="en-US" sz="3799" i="0" u="none" strike="noStrike" dirty="0">
              <a:solidFill>
                <a:srgbClr val="1B1B1B"/>
              </a:solidFill>
              <a:latin typeface="+mn-ea"/>
              <a:cs typeface="S-Core Dream 4 Regular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667000" y="8877300"/>
            <a:ext cx="35433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1997" dirty="0">
                <a:solidFill>
                  <a:srgbClr val="1B1B1B"/>
                </a:solidFill>
                <a:latin typeface="+mn-ea"/>
                <a:cs typeface="Pretendard Regular"/>
              </a:rPr>
              <a:t>천하장사</a:t>
            </a:r>
            <a:endParaRPr lang="en-US" sz="1997" b="0" i="0" u="none" strike="noStrike" dirty="0">
              <a:solidFill>
                <a:srgbClr val="1B1B1B"/>
              </a:solidFill>
              <a:latin typeface="+mn-ea"/>
              <a:cs typeface="Pretendard Regula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29657" y="8877300"/>
            <a:ext cx="14351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97" b="0" i="0" u="none" strike="noStrike" dirty="0" err="1">
                <a:solidFill>
                  <a:srgbClr val="FF7A51"/>
                </a:solidFill>
                <a:latin typeface="+mn-ea"/>
                <a:cs typeface="Pretendard SemiBold"/>
              </a:rPr>
              <a:t>팀명</a:t>
            </a:r>
            <a:endParaRPr lang="en-US" sz="1997" b="0" i="0" u="none" strike="noStrike" dirty="0">
              <a:solidFill>
                <a:srgbClr val="FF7A51"/>
              </a:solidFill>
              <a:latin typeface="+mn-ea"/>
              <a:cs typeface="Pretendard SemiBold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1900" y="1701800"/>
            <a:ext cx="6375400" cy="6934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2667">
              <a:srgbClr val="FFFFFF"/>
            </a:gs>
            <a:gs pos="100000">
              <a:srgbClr val="FFEDD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24600" y="749300"/>
            <a:ext cx="10147300" cy="1638300"/>
          </a:xfrm>
          <a:prstGeom prst="rect">
            <a:avLst/>
          </a:prstGeom>
          <a:effectLst>
            <a:outerShdw blurRad="491490" dir="2700000">
              <a:srgbClr val="1B1B1B">
                <a:alpha val="7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457200" y="685800"/>
            <a:ext cx="2489200" cy="63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24600" y="2540000"/>
            <a:ext cx="10147300" cy="1638300"/>
          </a:xfrm>
          <a:prstGeom prst="rect">
            <a:avLst/>
          </a:prstGeom>
          <a:effectLst>
            <a:outerShdw blurRad="491490" dir="2700000">
              <a:srgbClr val="1B1B1B">
                <a:alpha val="7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4600" y="4318000"/>
            <a:ext cx="10147300" cy="1638300"/>
          </a:xfrm>
          <a:prstGeom prst="rect">
            <a:avLst/>
          </a:prstGeom>
          <a:effectLst>
            <a:outerShdw blurRad="491490" dir="2700000">
              <a:srgbClr val="1B1B1B">
                <a:alpha val="7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4600" y="6108700"/>
            <a:ext cx="10147300" cy="1638300"/>
          </a:xfrm>
          <a:prstGeom prst="rect">
            <a:avLst/>
          </a:prstGeom>
          <a:effectLst>
            <a:outerShdw blurRad="491490" dir="2700000">
              <a:srgbClr val="1B1B1B">
                <a:alpha val="7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4600" y="7899400"/>
            <a:ext cx="10147300" cy="1638300"/>
          </a:xfrm>
          <a:prstGeom prst="rect">
            <a:avLst/>
          </a:prstGeom>
          <a:effectLst>
            <a:outerShdw blurRad="491490" dir="2700000">
              <a:srgbClr val="1B1B1B">
                <a:alpha val="7000"/>
              </a:srgbClr>
            </a:outerShdw>
          </a:effectLst>
        </p:spPr>
      </p:pic>
      <p:sp>
        <p:nvSpPr>
          <p:cNvPr id="8" name="TextBox 8"/>
          <p:cNvSpPr txBox="1"/>
          <p:nvPr/>
        </p:nvSpPr>
        <p:spPr>
          <a:xfrm>
            <a:off x="1206500" y="723900"/>
            <a:ext cx="58801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000" b="0" i="0" u="none" strike="noStrike" dirty="0" err="1">
                <a:solidFill>
                  <a:srgbClr val="1B1B1B"/>
                </a:solidFill>
                <a:latin typeface="+mn-ea"/>
                <a:cs typeface="S-Core Dream 4 Regular"/>
              </a:rPr>
              <a:t>목차</a:t>
            </a:r>
            <a:endParaRPr lang="en-US" sz="5000" b="0" i="0" u="none" strike="noStrike" dirty="0">
              <a:solidFill>
                <a:srgbClr val="1B1B1B"/>
              </a:solidFill>
              <a:latin typeface="+mn-ea"/>
              <a:cs typeface="S-Core Dream 4 Regula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466533" y="1193800"/>
            <a:ext cx="8383067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520319" lvl="1" indent="-520319" algn="l">
              <a:lnSpc>
                <a:spcPct val="116199"/>
              </a:lnSpc>
              <a:buAutoNum type="arabicPeriod"/>
            </a:pPr>
            <a:r>
              <a:rPr lang="en-US" sz="4097" b="1" i="0" u="none" strike="noStrike" dirty="0">
                <a:solidFill>
                  <a:srgbClr val="1B1B1B"/>
                </a:solidFill>
                <a:latin typeface="+mn-ea"/>
                <a:cs typeface="Pretendard Bold"/>
              </a:rPr>
              <a:t> Brainstorming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66533" y="2984500"/>
            <a:ext cx="8383067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97" b="1" i="0" u="none" strike="noStrike" dirty="0">
                <a:solidFill>
                  <a:srgbClr val="1B1B1B"/>
                </a:solidFill>
                <a:latin typeface="+mn-ea"/>
                <a:cs typeface="Pretendard Bold"/>
              </a:rPr>
              <a:t>2.  </a:t>
            </a:r>
            <a:r>
              <a:rPr lang="en-US" sz="4097" b="1" dirty="0">
                <a:solidFill>
                  <a:srgbClr val="1B1B1B"/>
                </a:solidFill>
                <a:latin typeface="+mn-ea"/>
                <a:cs typeface="Pretendard Bold"/>
              </a:rPr>
              <a:t>Interview</a:t>
            </a:r>
            <a:endParaRPr lang="en-US" sz="4097" b="1" i="0" u="none" strike="noStrike" dirty="0">
              <a:solidFill>
                <a:srgbClr val="1B1B1B"/>
              </a:solidFill>
              <a:latin typeface="+mn-ea"/>
              <a:cs typeface="Pretendard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466533" y="4762500"/>
            <a:ext cx="8383067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97" b="1" i="0" u="none" strike="noStrike" dirty="0">
                <a:solidFill>
                  <a:srgbClr val="1B1B1B"/>
                </a:solidFill>
                <a:latin typeface="+mn-ea"/>
                <a:cs typeface="Pretendard Bold"/>
              </a:rPr>
              <a:t>3.  </a:t>
            </a:r>
            <a:r>
              <a:rPr lang="en-US" sz="4097" b="1" dirty="0" err="1">
                <a:solidFill>
                  <a:srgbClr val="1B1B1B"/>
                </a:solidFill>
                <a:latin typeface="+mn-ea"/>
                <a:cs typeface="Pretendard Bold"/>
              </a:rPr>
              <a:t>Senario</a:t>
            </a:r>
            <a:r>
              <a:rPr lang="en-US" sz="4097" b="1" dirty="0">
                <a:solidFill>
                  <a:srgbClr val="1B1B1B"/>
                </a:solidFill>
                <a:latin typeface="+mn-ea"/>
                <a:cs typeface="Pretendard Bold"/>
              </a:rPr>
              <a:t> &amp; MVP</a:t>
            </a:r>
            <a:endParaRPr lang="en-US" sz="4097" b="1" i="0" u="none" strike="noStrike" dirty="0">
              <a:solidFill>
                <a:srgbClr val="1B1B1B"/>
              </a:solidFill>
              <a:latin typeface="+mn-ea"/>
              <a:cs typeface="Pretendard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466533" y="6553200"/>
            <a:ext cx="8383067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97" b="1" i="0" u="none" strike="noStrike" dirty="0">
                <a:solidFill>
                  <a:srgbClr val="1B1B1B"/>
                </a:solidFill>
                <a:latin typeface="+mn-ea"/>
                <a:cs typeface="Pretendard Bold"/>
              </a:rPr>
              <a:t>4.  </a:t>
            </a:r>
            <a:r>
              <a:rPr lang="en-US" sz="4097" b="1" dirty="0">
                <a:solidFill>
                  <a:srgbClr val="1B1B1B"/>
                </a:solidFill>
                <a:latin typeface="+mn-ea"/>
                <a:cs typeface="Pretendard Bold"/>
              </a:rPr>
              <a:t>Mini Ontology</a:t>
            </a:r>
            <a:endParaRPr lang="en-US" sz="4097" b="1" i="0" u="none" strike="noStrike" dirty="0">
              <a:solidFill>
                <a:srgbClr val="1B1B1B"/>
              </a:solidFill>
              <a:latin typeface="+mn-ea"/>
              <a:cs typeface="Pretendard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466533" y="8343900"/>
            <a:ext cx="8383067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97" b="1" i="0" u="none" strike="noStrike" dirty="0">
                <a:solidFill>
                  <a:srgbClr val="1B1B1B"/>
                </a:solidFill>
                <a:latin typeface="+mn-ea"/>
                <a:cs typeface="Pretendard Bold"/>
              </a:rPr>
              <a:t>5.  </a:t>
            </a:r>
            <a:r>
              <a:rPr lang="en-US" sz="4097" b="1" dirty="0">
                <a:solidFill>
                  <a:srgbClr val="1B1B1B"/>
                </a:solidFill>
                <a:latin typeface="+mn-ea"/>
                <a:cs typeface="Pretendard Bold"/>
              </a:rPr>
              <a:t>SPEC</a:t>
            </a:r>
            <a:endParaRPr lang="en-US" sz="4097" b="1" i="0" u="none" strike="noStrike" dirty="0">
              <a:solidFill>
                <a:srgbClr val="1B1B1B"/>
              </a:solidFill>
              <a:latin typeface="+mn-ea"/>
              <a:cs typeface="Pretendard 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2667">
              <a:srgbClr val="FFFFFF"/>
            </a:gs>
            <a:gs pos="100000">
              <a:srgbClr val="FFEDD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54800" y="749300"/>
            <a:ext cx="10883900" cy="2832100"/>
          </a:xfrm>
          <a:prstGeom prst="rect">
            <a:avLst/>
          </a:prstGeom>
          <a:effectLst>
            <a:outerShdw blurRad="848678" dir="2700000">
              <a:srgbClr val="1B1B1B">
                <a:alpha val="7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457200" y="685800"/>
            <a:ext cx="2489200" cy="63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4800" y="3733800"/>
            <a:ext cx="10883900" cy="2832100"/>
          </a:xfrm>
          <a:prstGeom prst="rect">
            <a:avLst/>
          </a:prstGeom>
          <a:effectLst>
            <a:outerShdw blurRad="848678" dir="2700000">
              <a:srgbClr val="1B1B1B">
                <a:alpha val="7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4800" y="6705600"/>
            <a:ext cx="10883900" cy="2832100"/>
          </a:xfrm>
          <a:prstGeom prst="rect">
            <a:avLst/>
          </a:prstGeom>
          <a:effectLst>
            <a:outerShdw blurRad="848678" dir="2700000">
              <a:srgbClr val="1B1B1B">
                <a:alpha val="7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20300" y="2425700"/>
            <a:ext cx="7073900" cy="787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01300" y="2641600"/>
            <a:ext cx="406400" cy="406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20300" y="5397500"/>
            <a:ext cx="7073900" cy="787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01300" y="5626100"/>
            <a:ext cx="406400" cy="406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20300" y="8382000"/>
            <a:ext cx="7073900" cy="787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01300" y="8597900"/>
            <a:ext cx="406400" cy="4064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206500" y="723900"/>
            <a:ext cx="58801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000" b="1" dirty="0">
                <a:solidFill>
                  <a:srgbClr val="1B1B1B"/>
                </a:solidFill>
                <a:latin typeface="+mn-ea"/>
                <a:cs typeface="S-Core Dream 4 Regular"/>
              </a:rPr>
              <a:t>Brainstorming</a:t>
            </a:r>
            <a:endParaRPr lang="en-US" sz="5000" b="1" i="0" u="none" strike="noStrike" dirty="0">
              <a:solidFill>
                <a:srgbClr val="1B1B1B"/>
              </a:solidFill>
              <a:latin typeface="+mn-ea"/>
              <a:cs typeface="S-Core Dream 4 Regula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049000" y="2590800"/>
            <a:ext cx="59182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397" b="0" i="0" u="none" strike="noStrike">
                <a:solidFill>
                  <a:srgbClr val="1B1B1B"/>
                </a:solidFill>
                <a:latin typeface="+mn-ea"/>
                <a:cs typeface="Pretendard Bold"/>
              </a:rPr>
              <a:t>개인 맞춤 영양제 / 강아지 배변 훈련 등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23500" y="1270000"/>
            <a:ext cx="4229100" cy="609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00" b="0" i="0" u="none" strike="noStrike">
                <a:solidFill>
                  <a:srgbClr val="1B1B1B"/>
                </a:solidFill>
                <a:latin typeface="+mn-ea"/>
                <a:cs typeface="Pretendard Bold"/>
              </a:rPr>
              <a:t>아이디어 발산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49000" y="5575300"/>
            <a:ext cx="59182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397" b="0" i="0" u="none" strike="noStrike">
                <a:solidFill>
                  <a:srgbClr val="1B1B1B"/>
                </a:solidFill>
                <a:latin typeface="+mn-ea"/>
                <a:cs typeface="Pretendard Bold"/>
              </a:rPr>
              <a:t>고객이 명확한가 / 수익 구조 / 실현 가능성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23500" y="4254500"/>
            <a:ext cx="4229100" cy="609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00" b="0" i="0" u="none" strike="noStrike">
                <a:solidFill>
                  <a:srgbClr val="1B1B1B"/>
                </a:solidFill>
                <a:latin typeface="+mn-ea"/>
                <a:cs typeface="Pretendard Bold"/>
              </a:rPr>
              <a:t>세 가지 기준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049000" y="8547100"/>
            <a:ext cx="59182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397" b="0" i="0" u="none" strike="noStrike">
                <a:solidFill>
                  <a:srgbClr val="1B1B1B"/>
                </a:solidFill>
                <a:latin typeface="+mn-ea"/>
                <a:cs typeface="Pretendard Bold"/>
              </a:rPr>
              <a:t>자영업 경험 팀원이 첫 인터뷰이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23500" y="7239000"/>
            <a:ext cx="4229100" cy="609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00" b="0" i="0" u="none" strike="noStrike">
                <a:solidFill>
                  <a:srgbClr val="1B1B1B"/>
                </a:solidFill>
                <a:latin typeface="+mn-ea"/>
                <a:cs typeface="Pretendard Bold"/>
              </a:rPr>
              <a:t>타겟 고객: 자영업자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3300" y="1041400"/>
            <a:ext cx="2209800" cy="2260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9800" y="4076700"/>
            <a:ext cx="2273300" cy="21209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3300" y="7086600"/>
            <a:ext cx="2209800" cy="20828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157700" y="88900"/>
            <a:ext cx="1142999" cy="12450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2667">
              <a:srgbClr val="FFFFFF"/>
            </a:gs>
            <a:gs pos="100000">
              <a:srgbClr val="FFEDD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>
            <a:extLst>
              <a:ext uri="{FF2B5EF4-FFF2-40B4-BE49-F238E27FC236}">
                <a16:creationId xmlns:a16="http://schemas.microsoft.com/office/drawing/2014/main" id="{894C1008-0931-68EF-4F2C-8E95C6B77E77}"/>
              </a:ext>
            </a:extLst>
          </p:cNvPr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65860" y="6044795"/>
            <a:ext cx="9677640" cy="3102314"/>
          </a:xfrm>
          <a:prstGeom prst="rect">
            <a:avLst/>
          </a:prstGeom>
          <a:effectLst>
            <a:outerShdw blurRad="848678" dir="2700000">
              <a:srgbClr val="1B1B1B">
                <a:alpha val="7000"/>
              </a:srgbClr>
            </a:outerShdw>
          </a:effectLst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65860" y="2628900"/>
            <a:ext cx="9677640" cy="3102314"/>
          </a:xfrm>
          <a:prstGeom prst="rect">
            <a:avLst/>
          </a:prstGeom>
          <a:effectLst>
            <a:outerShdw blurRad="848678" dir="2700000">
              <a:srgbClr val="1B1B1B">
                <a:alpha val="7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457200" y="685800"/>
            <a:ext cx="2489200" cy="63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206500" y="723900"/>
            <a:ext cx="58801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000" b="1" i="0" u="none" strike="noStrike" dirty="0">
                <a:solidFill>
                  <a:srgbClr val="1B1B1B"/>
                </a:solidFill>
                <a:latin typeface="+mn-ea"/>
                <a:cs typeface="S-Core Dream 4 Regular"/>
              </a:rPr>
              <a:t>Brainstorming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73183" y="6884483"/>
            <a:ext cx="4965700" cy="1645058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dirty="0" err="1">
                <a:solidFill>
                  <a:srgbClr val="1B1B1B"/>
                </a:solidFill>
                <a:latin typeface="+mn-ea"/>
                <a:cs typeface="Pretendard Bold"/>
              </a:rPr>
              <a:t>초기해결</a:t>
            </a:r>
            <a:r>
              <a:rPr lang="en-US" sz="3200" b="0" i="0" u="none" strike="noStrike" dirty="0">
                <a:solidFill>
                  <a:srgbClr val="1B1B1B"/>
                </a:solidFill>
                <a:latin typeface="+mn-ea"/>
                <a:cs typeface="Pretendard Bold"/>
              </a:rPr>
              <a:t> </a:t>
            </a:r>
            <a:r>
              <a:rPr lang="en-US" sz="3200" b="0" i="0" u="none" strike="noStrike" dirty="0" err="1">
                <a:solidFill>
                  <a:srgbClr val="1B1B1B"/>
                </a:solidFill>
                <a:latin typeface="+mn-ea"/>
                <a:cs typeface="Pretendard Bold"/>
              </a:rPr>
              <a:t>방향</a:t>
            </a:r>
            <a:r>
              <a:rPr lang="en-US" sz="3200" b="0" i="0" u="none" strike="noStrike" dirty="0">
                <a:solidFill>
                  <a:srgbClr val="1B1B1B"/>
                </a:solidFill>
                <a:latin typeface="+mn-ea"/>
                <a:cs typeface="Pretendard Bold"/>
              </a:rPr>
              <a:t> </a:t>
            </a:r>
            <a:endParaRPr lang="en-US" sz="3200" dirty="0">
              <a:solidFill>
                <a:srgbClr val="1B1B1B"/>
              </a:solidFill>
              <a:latin typeface="+mn-ea"/>
              <a:cs typeface="Pretendard Bold"/>
            </a:endParaRPr>
          </a:p>
          <a:p>
            <a:pPr lvl="0" algn="l">
              <a:lnSpc>
                <a:spcPct val="116199"/>
              </a:lnSpc>
            </a:pPr>
            <a:endParaRPr lang="en-US" sz="3200" b="0" i="0" u="none" strike="noStrike" dirty="0">
              <a:solidFill>
                <a:srgbClr val="1B1B1B"/>
              </a:solidFill>
              <a:latin typeface="+mn-ea"/>
              <a:cs typeface="Pretendard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686800" y="3055026"/>
            <a:ext cx="53848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99" b="0" i="0" u="none" strike="noStrike" dirty="0">
                <a:solidFill>
                  <a:srgbClr val="1B1B1B"/>
                </a:solidFill>
                <a:latin typeface="+mn-ea"/>
                <a:cs typeface="Pretendard Bold"/>
              </a:rPr>
              <a:t>가설1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86800" y="3783519"/>
            <a:ext cx="9283700" cy="166721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200" b="1" i="1" u="none" strike="noStrike" dirty="0">
                <a:latin typeface="+mn-ea"/>
                <a:cs typeface="Pretendard Bold"/>
              </a:rPr>
              <a:t>"</a:t>
            </a:r>
            <a:r>
              <a:rPr lang="en-US" sz="4200" b="1" i="1" u="none" strike="noStrike" dirty="0" err="1">
                <a:solidFill>
                  <a:schemeClr val="accent6">
                    <a:lumMod val="75000"/>
                  </a:schemeClr>
                </a:solidFill>
                <a:latin typeface="+mn-ea"/>
                <a:cs typeface="Pretendard Bold"/>
              </a:rPr>
              <a:t>공동구매</a:t>
            </a:r>
            <a:r>
              <a:rPr lang="en-US" sz="4200" b="1" i="1" u="none" strike="noStrike" dirty="0" err="1">
                <a:latin typeface="+mn-ea"/>
                <a:cs typeface="Pretendard Bold"/>
              </a:rPr>
              <a:t>로</a:t>
            </a:r>
            <a:r>
              <a:rPr lang="en-US" sz="4200" b="1" i="1" u="none" strike="noStrike" dirty="0">
                <a:latin typeface="+mn-ea"/>
                <a:cs typeface="Pretendard Bold"/>
              </a:rPr>
              <a:t> </a:t>
            </a:r>
            <a:r>
              <a:rPr lang="en-US" sz="4200" b="1" i="1" u="none" strike="noStrike" dirty="0" err="1">
                <a:latin typeface="+mn-ea"/>
                <a:cs typeface="Pretendard Bold"/>
              </a:rPr>
              <a:t>구매원가</a:t>
            </a:r>
            <a:r>
              <a:rPr lang="en-US" sz="4200" b="1" i="1" u="none" strike="noStrike" dirty="0">
                <a:latin typeface="+mn-ea"/>
                <a:cs typeface="Pretendard Bold"/>
              </a:rPr>
              <a:t> </a:t>
            </a:r>
            <a:r>
              <a:rPr lang="en-US" sz="4200" b="1" i="1" u="none" strike="noStrike" dirty="0" err="1">
                <a:latin typeface="+mn-ea"/>
                <a:cs typeface="Pretendard Bold"/>
              </a:rPr>
              <a:t>절감이</a:t>
            </a:r>
            <a:r>
              <a:rPr lang="en-US" sz="4200" b="1" i="1" u="none" strike="noStrike" dirty="0">
                <a:latin typeface="+mn-ea"/>
                <a:cs typeface="Pretendard Bold"/>
              </a:rPr>
              <a:t> </a:t>
            </a:r>
            <a:r>
              <a:rPr lang="en-US" sz="4200" b="1" i="1" u="none" strike="noStrike" dirty="0" err="1">
                <a:latin typeface="+mn-ea"/>
                <a:cs typeface="Pretendard Bold"/>
              </a:rPr>
              <a:t>가능하다면</a:t>
            </a:r>
            <a:r>
              <a:rPr lang="en-US" sz="4200" b="1" i="1" u="none" strike="noStrike" dirty="0">
                <a:latin typeface="+mn-ea"/>
                <a:cs typeface="Pretendard Bold"/>
              </a:rPr>
              <a:t> </a:t>
            </a:r>
          </a:p>
          <a:p>
            <a:pPr lvl="0" algn="l">
              <a:lnSpc>
                <a:spcPct val="116199"/>
              </a:lnSpc>
            </a:pPr>
            <a:r>
              <a:rPr lang="en-US" sz="4200" b="1" i="1" u="none" strike="noStrike" dirty="0" err="1">
                <a:latin typeface="+mn-ea"/>
                <a:cs typeface="Pretendard Bold"/>
              </a:rPr>
              <a:t>서비스를</a:t>
            </a:r>
            <a:r>
              <a:rPr lang="en-US" sz="4200" b="1" i="1" u="none" strike="noStrike" dirty="0">
                <a:latin typeface="+mn-ea"/>
                <a:cs typeface="Pretendard Bold"/>
              </a:rPr>
              <a:t> </a:t>
            </a:r>
            <a:r>
              <a:rPr lang="en-US" sz="4200" b="1" i="1" u="none" strike="noStrike" dirty="0" err="1">
                <a:latin typeface="+mn-ea"/>
                <a:cs typeface="Pretendard Bold"/>
              </a:rPr>
              <a:t>이용할</a:t>
            </a:r>
            <a:r>
              <a:rPr lang="en-US" sz="4200" b="1" i="1" u="none" strike="noStrike" dirty="0">
                <a:latin typeface="+mn-ea"/>
                <a:cs typeface="Pretendard Bold"/>
              </a:rPr>
              <a:t> </a:t>
            </a:r>
            <a:r>
              <a:rPr lang="en-US" sz="4200" b="1" i="1" u="none" strike="noStrike" dirty="0" err="1">
                <a:latin typeface="+mn-ea"/>
                <a:cs typeface="Pretendard Bold"/>
              </a:rPr>
              <a:t>것이다</a:t>
            </a:r>
            <a:r>
              <a:rPr lang="en-US" sz="4200" b="1" i="1" u="none" strike="noStrike" dirty="0">
                <a:latin typeface="+mn-ea"/>
                <a:cs typeface="Pretendard Bold"/>
              </a:rPr>
              <a:t>."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AB58358A-C38E-87F6-3FD0-9A1807B09509}"/>
              </a:ext>
            </a:extLst>
          </p:cNvPr>
          <p:cNvSpPr txBox="1"/>
          <p:nvPr/>
        </p:nvSpPr>
        <p:spPr>
          <a:xfrm>
            <a:off x="12247259" y="6862328"/>
            <a:ext cx="4965700" cy="1645058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200" dirty="0">
                <a:solidFill>
                  <a:srgbClr val="1B1B1B"/>
                </a:solidFill>
                <a:latin typeface="+mn-ea"/>
                <a:cs typeface="Pretendard Bold"/>
              </a:rPr>
              <a:t>한 </a:t>
            </a:r>
            <a:r>
              <a:rPr lang="en-US" altLang="ko-KR" sz="3200" dirty="0" err="1">
                <a:solidFill>
                  <a:srgbClr val="1B1B1B"/>
                </a:solidFill>
                <a:latin typeface="+mn-ea"/>
                <a:cs typeface="Pretendard Bold"/>
              </a:rPr>
              <a:t>상권의</a:t>
            </a:r>
            <a:r>
              <a:rPr lang="en-US" altLang="ko-KR" sz="3200" dirty="0">
                <a:solidFill>
                  <a:srgbClr val="1B1B1B"/>
                </a:solidFill>
                <a:latin typeface="+mn-ea"/>
                <a:cs typeface="Pretendard Bold"/>
              </a:rPr>
              <a:t> </a:t>
            </a:r>
            <a:r>
              <a:rPr lang="en-US" altLang="ko-KR" sz="3200" dirty="0" err="1">
                <a:solidFill>
                  <a:srgbClr val="1B1B1B"/>
                </a:solidFill>
                <a:latin typeface="+mn-ea"/>
                <a:cs typeface="Pretendard Bold"/>
              </a:rPr>
              <a:t>공동</a:t>
            </a:r>
            <a:r>
              <a:rPr lang="en-US" altLang="ko-KR" sz="3200" dirty="0">
                <a:solidFill>
                  <a:srgbClr val="1B1B1B"/>
                </a:solidFill>
                <a:latin typeface="+mn-ea"/>
                <a:cs typeface="Pretendard Bold"/>
              </a:rPr>
              <a:t> </a:t>
            </a:r>
            <a:r>
              <a:rPr lang="en-US" altLang="ko-KR" sz="3200" dirty="0" err="1">
                <a:solidFill>
                  <a:srgbClr val="1B1B1B"/>
                </a:solidFill>
                <a:latin typeface="+mn-ea"/>
                <a:cs typeface="Pretendard Bold"/>
              </a:rPr>
              <a:t>구매</a:t>
            </a:r>
            <a:endParaRPr lang="en-US" altLang="ko-KR" sz="3200" dirty="0">
              <a:solidFill>
                <a:srgbClr val="1B1B1B"/>
              </a:solidFill>
              <a:latin typeface="+mn-ea"/>
              <a:cs typeface="Pretendard Bold"/>
            </a:endParaRPr>
          </a:p>
          <a:p>
            <a:pPr lvl="0">
              <a:lnSpc>
                <a:spcPct val="116199"/>
              </a:lnSpc>
            </a:pPr>
            <a:r>
              <a:rPr lang="en-US" altLang="ko-KR" sz="3200" dirty="0">
                <a:solidFill>
                  <a:srgbClr val="1B1B1B"/>
                </a:solidFill>
                <a:latin typeface="+mn-ea"/>
                <a:cs typeface="Pretendard Bold"/>
              </a:rPr>
              <a:t>1:N </a:t>
            </a:r>
            <a:r>
              <a:rPr lang="en-US" altLang="ko-KR" sz="3200" dirty="0" err="1">
                <a:solidFill>
                  <a:srgbClr val="1B1B1B"/>
                </a:solidFill>
                <a:latin typeface="+mn-ea"/>
                <a:cs typeface="Pretendard Bold"/>
              </a:rPr>
              <a:t>거래로</a:t>
            </a:r>
            <a:r>
              <a:rPr lang="en-US" altLang="ko-KR" sz="3200" dirty="0">
                <a:solidFill>
                  <a:srgbClr val="1B1B1B"/>
                </a:solidFill>
                <a:latin typeface="+mn-ea"/>
                <a:cs typeface="Pretendard Bold"/>
              </a:rPr>
              <a:t> </a:t>
            </a:r>
            <a:r>
              <a:rPr lang="en-US" altLang="ko-KR" sz="3200" dirty="0" err="1">
                <a:solidFill>
                  <a:srgbClr val="1B1B1B"/>
                </a:solidFill>
                <a:latin typeface="+mn-ea"/>
                <a:cs typeface="Pretendard Bold"/>
              </a:rPr>
              <a:t>유통절감</a:t>
            </a:r>
            <a:endParaRPr lang="en-US" altLang="ko-KR" sz="3200" dirty="0">
              <a:solidFill>
                <a:srgbClr val="1B1B1B"/>
              </a:solidFill>
              <a:latin typeface="+mn-ea"/>
              <a:cs typeface="Pretendard Bold"/>
            </a:endParaRPr>
          </a:p>
          <a:p>
            <a:pPr lvl="0" algn="l">
              <a:lnSpc>
                <a:spcPct val="116199"/>
              </a:lnSpc>
            </a:pPr>
            <a:endParaRPr lang="en-US" sz="3200" b="0" i="0" u="none" strike="noStrike" dirty="0">
              <a:solidFill>
                <a:srgbClr val="1B1B1B"/>
              </a:solidFill>
              <a:latin typeface="+mn-ea"/>
              <a:cs typeface="Pretendard Bold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650C510-416B-DD6B-BEC7-632CD492E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029" y="4180057"/>
            <a:ext cx="7316485" cy="413457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66F3CC7-2A65-CC72-01B4-5D26B04C4E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93" t="8366" r="4207"/>
          <a:stretch>
            <a:fillRect/>
          </a:stretch>
        </p:blipFill>
        <p:spPr>
          <a:xfrm>
            <a:off x="8305799" y="6339484"/>
            <a:ext cx="8907159" cy="2646015"/>
          </a:xfrm>
          <a:prstGeom prst="rect">
            <a:avLst/>
          </a:prstGeom>
        </p:spPr>
      </p:pic>
      <p:pic>
        <p:nvPicPr>
          <p:cNvPr id="10" name="Picture 22">
            <a:extLst>
              <a:ext uri="{FF2B5EF4-FFF2-40B4-BE49-F238E27FC236}">
                <a16:creationId xmlns:a16="http://schemas.microsoft.com/office/drawing/2014/main" id="{CC89B6C8-5AFF-B8F4-A17A-4AB088EDE3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57700" y="88900"/>
            <a:ext cx="1142999" cy="12450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2667">
              <a:srgbClr val="FFFFFF"/>
            </a:gs>
            <a:gs pos="100000">
              <a:srgbClr val="FFEDD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457200" y="685800"/>
            <a:ext cx="2489200" cy="63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206500" y="723900"/>
            <a:ext cx="58801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000" b="1" dirty="0">
                <a:solidFill>
                  <a:srgbClr val="1B1B1B"/>
                </a:solidFill>
                <a:latin typeface="+mn-ea"/>
                <a:cs typeface="S-Core Dream 4 Regular"/>
              </a:rPr>
              <a:t>Interview</a:t>
            </a:r>
            <a:endParaRPr lang="en-US" sz="5000" b="1" i="0" u="none" strike="noStrike" dirty="0">
              <a:solidFill>
                <a:srgbClr val="1B1B1B"/>
              </a:solidFill>
              <a:latin typeface="+mn-ea"/>
              <a:cs typeface="S-Core Dream 4 Regular"/>
            </a:endParaRPr>
          </a:p>
        </p:txBody>
      </p:sp>
      <p:pic>
        <p:nvPicPr>
          <p:cNvPr id="7" name="Picture 22">
            <a:extLst>
              <a:ext uri="{FF2B5EF4-FFF2-40B4-BE49-F238E27FC236}">
                <a16:creationId xmlns:a16="http://schemas.microsoft.com/office/drawing/2014/main" id="{013580D6-B537-A5D3-A0D2-2217C35E4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57700" y="88900"/>
            <a:ext cx="1142999" cy="1245052"/>
          </a:xfrm>
          <a:prstGeom prst="rect">
            <a:avLst/>
          </a:prstGeom>
        </p:spPr>
      </p:pic>
      <p:pic>
        <p:nvPicPr>
          <p:cNvPr id="8" name="Picture 7" descr="MomTest_대본적용_그림_v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8601" y="1874519"/>
            <a:ext cx="13730794" cy="79552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2667">
              <a:srgbClr val="FFFFFF"/>
            </a:gs>
            <a:gs pos="100000">
              <a:srgbClr val="FFEDD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14900" y="889000"/>
            <a:ext cx="11455400" cy="2146300"/>
          </a:xfrm>
          <a:prstGeom prst="rect">
            <a:avLst/>
          </a:prstGeom>
          <a:effectLst>
            <a:outerShdw blurRad="642938" dir="2700000">
              <a:srgbClr val="1B1B1B">
                <a:alpha val="7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-457200" y="685800"/>
            <a:ext cx="2489200" cy="635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206500" y="723900"/>
            <a:ext cx="58801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000" b="1" i="0" u="none" strike="noStrike" dirty="0">
                <a:solidFill>
                  <a:srgbClr val="1B1B1B"/>
                </a:solidFill>
                <a:latin typeface="+mn-ea"/>
                <a:cs typeface="S-Core Dream 4 Regular"/>
              </a:rPr>
              <a:t>Interview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46700" y="1333500"/>
            <a:ext cx="30226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 dirty="0">
                <a:solidFill>
                  <a:srgbClr val="1B1B1B"/>
                </a:solidFill>
                <a:latin typeface="+mn-ea"/>
                <a:cs typeface="Pretendard Bold"/>
              </a:rPr>
              <a:t>최0네칼국수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42318" y="1333500"/>
            <a:ext cx="8478682" cy="1308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“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그래서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 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저희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 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조금씩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 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자주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 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시켜요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.”
“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생물이기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 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때문에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 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남게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 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시키긴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 좀 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그래요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.”
“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모자라게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 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시켜서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 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차라리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 못 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파는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 게 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낫지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.”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14900" y="3390900"/>
            <a:ext cx="11455400" cy="2146300"/>
          </a:xfrm>
          <a:prstGeom prst="rect">
            <a:avLst/>
          </a:prstGeom>
          <a:effectLst>
            <a:outerShdw blurRad="642938" dir="2700000">
              <a:srgbClr val="1B1B1B">
                <a:alpha val="7000"/>
              </a:srgbClr>
            </a:outerShdw>
          </a:effectLst>
        </p:spPr>
      </p:pic>
      <p:sp>
        <p:nvSpPr>
          <p:cNvPr id="8" name="TextBox 8"/>
          <p:cNvSpPr txBox="1"/>
          <p:nvPr/>
        </p:nvSpPr>
        <p:spPr>
          <a:xfrm>
            <a:off x="5346700" y="3886200"/>
            <a:ext cx="30226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1B1B1B"/>
                </a:solidFill>
                <a:latin typeface="+mn-ea"/>
                <a:cs typeface="Pretendard Bold"/>
              </a:rPr>
              <a:t>권0회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55144" y="3886200"/>
            <a:ext cx="8654756" cy="863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400" b="0" i="0" u="none" strike="noStrike">
                <a:solidFill>
                  <a:srgbClr val="1B1B1B"/>
                </a:solidFill>
                <a:latin typeface="+mn-ea"/>
                <a:cs typeface="Pretendard Regular"/>
              </a:rPr>
              <a:t>“아 매일매일 주문을 해요.”
“그냥 귀찮기도 하고 편하기도 하고 그래서 딱히 바꿀 이유가 없어요.”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14900" y="5892800"/>
            <a:ext cx="11455400" cy="2146300"/>
          </a:xfrm>
          <a:prstGeom prst="rect">
            <a:avLst/>
          </a:prstGeom>
          <a:effectLst>
            <a:outerShdw blurRad="642938" dir="2700000">
              <a:srgbClr val="1B1B1B">
                <a:alpha val="7000"/>
              </a:srgbClr>
            </a:outerShdw>
          </a:effectLst>
        </p:spPr>
      </p:pic>
      <p:sp>
        <p:nvSpPr>
          <p:cNvPr id="11" name="TextBox 11"/>
          <p:cNvSpPr txBox="1"/>
          <p:nvPr/>
        </p:nvSpPr>
        <p:spPr>
          <a:xfrm>
            <a:off x="5346700" y="6438900"/>
            <a:ext cx="30226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1B1B1B"/>
                </a:solidFill>
                <a:latin typeface="+mn-ea"/>
                <a:cs typeface="Pretendard Bold"/>
              </a:rPr>
              <a:t>닭갈비집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86600" y="6197600"/>
            <a:ext cx="9372600" cy="1308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400" b="0" i="0" u="none" strike="noStrike">
                <a:solidFill>
                  <a:srgbClr val="1B1B1B"/>
                </a:solidFill>
                <a:latin typeface="+mn-ea"/>
                <a:cs typeface="Pretendard Regular"/>
              </a:rPr>
              <a:t>“저희는 매일 해요.”
“거기 한 15년 이상 그런데 좀 비싸가지고 제가 쿠팡을 좀 종종 끼워 넣어요.”
“배달이 되니까요.”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4900" y="8372812"/>
            <a:ext cx="11136094" cy="1025187"/>
          </a:xfrm>
          <a:prstGeom prst="rect">
            <a:avLst/>
          </a:prstGeom>
          <a:effectLst>
            <a:outerShdw blurRad="302895" dir="2700000">
              <a:srgbClr val="1B1B1B">
                <a:alpha val="7000"/>
              </a:srgbClr>
            </a:outerShdw>
          </a:effectLst>
        </p:spPr>
      </p:pic>
      <p:sp>
        <p:nvSpPr>
          <p:cNvPr id="14" name="TextBox 14"/>
          <p:cNvSpPr txBox="1"/>
          <p:nvPr/>
        </p:nvSpPr>
        <p:spPr>
          <a:xfrm>
            <a:off x="8369300" y="8612355"/>
            <a:ext cx="59055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97" b="1">
                <a:solidFill>
                  <a:srgbClr val="CA591B"/>
                </a:solidFill>
                <a:latin typeface="+mn-ea"/>
                <a:cs typeface="Pretendard Bold"/>
              </a:rPr>
              <a:t>→  1차 가설 폐기</a:t>
            </a:r>
            <a:endParaRPr lang="en-US" sz="2897" b="1" i="0" u="none" strike="noStrike" dirty="0">
              <a:solidFill>
                <a:srgbClr val="CA591B"/>
              </a:solidFill>
              <a:latin typeface="+mn-ea"/>
              <a:cs typeface="Pretendard Bold"/>
            </a:endParaRPr>
          </a:p>
        </p:txBody>
      </p:sp>
      <p:pic>
        <p:nvPicPr>
          <p:cNvPr id="17" name="Picture 22">
            <a:extLst>
              <a:ext uri="{FF2B5EF4-FFF2-40B4-BE49-F238E27FC236}">
                <a16:creationId xmlns:a16="http://schemas.microsoft.com/office/drawing/2014/main" id="{8CADADB3-5CAA-E4B3-4FF8-D237E39FA7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57700" y="88900"/>
            <a:ext cx="1142999" cy="1245052"/>
          </a:xfrm>
          <a:prstGeom prst="rect">
            <a:avLst/>
          </a:prstGeom>
        </p:spPr>
      </p:pic>
      <p:sp>
        <p:nvSpPr>
          <p:cNvPr id="15" name="TextBox 5"/>
          <p:cNvSpPr txBox="1"/>
          <p:nvPr/>
        </p:nvSpPr>
        <p:spPr>
          <a:xfrm>
            <a:off x="1017870" y="1993900"/>
            <a:ext cx="4270248" cy="146304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4000" b="1" dirty="0">
                <a:latin typeface="+mn-ea"/>
                <a:cs typeface="Pretendard Bold"/>
              </a:rPr>
              <a:t>인터뷰중간점검</a:t>
            </a:r>
            <a:endParaRPr lang="en-US" sz="2600" b="0" i="0" u="none" strike="noStrike" dirty="0">
              <a:latin typeface="+mn-ea"/>
              <a:cs typeface="Pretendard 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2667">
              <a:srgbClr val="FFFFFF"/>
            </a:gs>
            <a:gs pos="100000">
              <a:srgbClr val="FFEDD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901700"/>
            <a:ext cx="11036300" cy="2146300"/>
          </a:xfrm>
          <a:prstGeom prst="rect">
            <a:avLst/>
          </a:prstGeom>
          <a:effectLst>
            <a:outerShdw blurRad="642938" dir="2700000">
              <a:srgbClr val="1B1B1B">
                <a:alpha val="7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457200" y="685800"/>
            <a:ext cx="2489200" cy="635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206500" y="723900"/>
            <a:ext cx="58801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000" b="1" i="0" u="none" strike="noStrike" dirty="0">
                <a:solidFill>
                  <a:srgbClr val="1B1B1B"/>
                </a:solidFill>
                <a:latin typeface="+mn-ea"/>
                <a:cs typeface="S-Core Dream 4 Regular"/>
              </a:rPr>
              <a:t>Interview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829300" y="1346200"/>
            <a:ext cx="30226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 dirty="0">
                <a:solidFill>
                  <a:srgbClr val="1B1B1B"/>
                </a:solidFill>
                <a:latin typeface="+mn-ea"/>
                <a:cs typeface="Pretendard Bold"/>
              </a:rPr>
              <a:t>용0방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89900" y="1320800"/>
            <a:ext cx="11010900" cy="1308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“앞 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가게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 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사장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 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친구랑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 … 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기름에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 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대해서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 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정보를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 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주고받다가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”
“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저희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 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거랑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 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가격이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 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너무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 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다르니까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 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업체에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 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전화해서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 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물어봤더니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,”
“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그래서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 아 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여기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 못 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믿겠다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. </a:t>
            </a:r>
            <a:r>
              <a:rPr lang="en-US" sz="2400" b="0" i="0" u="none" strike="noStrike" dirty="0" err="1">
                <a:solidFill>
                  <a:srgbClr val="1B1B1B"/>
                </a:solidFill>
                <a:latin typeface="+mn-ea"/>
                <a:cs typeface="Pretendard Regular"/>
              </a:rPr>
              <a:t>싶었죠</a:t>
            </a:r>
            <a:r>
              <a:rPr lang="en-US" sz="2400" b="0" i="0" u="none" strike="noStrike" dirty="0">
                <a:solidFill>
                  <a:srgbClr val="1B1B1B"/>
                </a:solidFill>
                <a:latin typeface="+mn-ea"/>
                <a:cs typeface="Pretendard Regular"/>
              </a:rPr>
              <a:t>.”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3238500"/>
            <a:ext cx="11036300" cy="2146300"/>
          </a:xfrm>
          <a:prstGeom prst="rect">
            <a:avLst/>
          </a:prstGeom>
          <a:effectLst>
            <a:outerShdw blurRad="642938" dir="2700000">
              <a:srgbClr val="1B1B1B">
                <a:alpha val="7000"/>
              </a:srgbClr>
            </a:outerShdw>
          </a:effectLst>
        </p:spPr>
      </p:pic>
      <p:sp>
        <p:nvSpPr>
          <p:cNvPr id="8" name="TextBox 8"/>
          <p:cNvSpPr txBox="1"/>
          <p:nvPr/>
        </p:nvSpPr>
        <p:spPr>
          <a:xfrm>
            <a:off x="5829300" y="3733800"/>
            <a:ext cx="30226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1B1B1B"/>
                </a:solidFill>
                <a:latin typeface="+mn-ea"/>
                <a:cs typeface="Pretendard Bold"/>
              </a:rPr>
              <a:t>키0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89900" y="3810000"/>
            <a:ext cx="8013700" cy="863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400" b="0" i="0" u="none" strike="noStrike">
                <a:solidFill>
                  <a:srgbClr val="1B1B1B"/>
                </a:solidFill>
                <a:latin typeface="+mn-ea"/>
                <a:cs typeface="Pretendard Regular"/>
              </a:rPr>
              <a:t>“제 친구들이 정육점하고 고기업체에서 일을 많이 해가지고”
“그 친구들 도움 좀 많이 받고”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0" y="5600700"/>
            <a:ext cx="11036300" cy="2146300"/>
          </a:xfrm>
          <a:prstGeom prst="rect">
            <a:avLst/>
          </a:prstGeom>
          <a:effectLst>
            <a:outerShdw blurRad="642938" dir="2700000">
              <a:srgbClr val="1B1B1B">
                <a:alpha val="7000"/>
              </a:srgbClr>
            </a:outerShdw>
          </a:effectLst>
        </p:spPr>
      </p:pic>
      <p:sp>
        <p:nvSpPr>
          <p:cNvPr id="11" name="TextBox 11"/>
          <p:cNvSpPr txBox="1"/>
          <p:nvPr/>
        </p:nvSpPr>
        <p:spPr>
          <a:xfrm>
            <a:off x="5829300" y="6146800"/>
            <a:ext cx="30226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1B1B1B"/>
                </a:solidFill>
                <a:latin typeface="+mn-ea"/>
                <a:cs typeface="Pretendard Bold"/>
              </a:rPr>
              <a:t>닭갈비집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89900" y="6159500"/>
            <a:ext cx="6540500" cy="863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400" b="0" i="0" u="none" strike="noStrike">
                <a:solidFill>
                  <a:srgbClr val="1B1B1B"/>
                </a:solidFill>
                <a:latin typeface="+mn-ea"/>
                <a:cs typeface="Pretendard Regular"/>
              </a:rPr>
              <a:t>“한 4군데에서 가격 비교해 가면서”
“가격이 다 틀려요. 많이 틀립니다.”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4000" y="7962900"/>
            <a:ext cx="11036300" cy="1803400"/>
          </a:xfrm>
          <a:prstGeom prst="rect">
            <a:avLst/>
          </a:prstGeom>
          <a:effectLst>
            <a:outerShdw blurRad="454343" dir="2700000">
              <a:srgbClr val="1B1B1B">
                <a:alpha val="7000"/>
              </a:srgbClr>
            </a:outerShdw>
          </a:effectLst>
        </p:spPr>
      </p:pic>
      <p:sp>
        <p:nvSpPr>
          <p:cNvPr id="14" name="TextBox 14"/>
          <p:cNvSpPr txBox="1"/>
          <p:nvPr/>
        </p:nvSpPr>
        <p:spPr>
          <a:xfrm>
            <a:off x="6178415" y="8270943"/>
            <a:ext cx="9925185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CA591B"/>
                </a:solidFill>
                <a:latin typeface="+mn-ea"/>
                <a:cs typeface="Pretendard Bold"/>
              </a:rPr>
              <a:t>공통점</a:t>
            </a:r>
            <a:endParaRPr lang="en-US" sz="3600" b="0" i="0" u="none" strike="noStrike" dirty="0">
              <a:solidFill>
                <a:schemeClr val="accent6">
                  <a:lumMod val="75000"/>
                </a:schemeClr>
              </a:solidFill>
              <a:latin typeface="+mn-ea"/>
              <a:cs typeface="Pretendard Bold"/>
            </a:endParaRPr>
          </a:p>
          <a:p>
            <a:pPr lvl="0" algn="l">
              <a:lnSpc>
                <a:spcPct val="116199"/>
              </a:lnSpc>
            </a:pPr>
            <a:r>
              <a:rPr lang="en-US" sz="3600" i="0" u="none" strike="noStrike">
                <a:solidFill>
                  <a:srgbClr val="000000"/>
                </a:solidFill>
                <a:latin typeface="+mn-ea"/>
                <a:cs typeface="Pretendard Bold"/>
              </a:rPr>
              <a:t>정보의 비대칭, 즉 </a:t>
            </a:r>
            <a:r>
              <a:rPr lang="en-US" sz="3600" b="1" i="0" u="none" strike="noStrike">
                <a:solidFill>
                  <a:srgbClr val="CA591B"/>
                </a:solidFill>
                <a:latin typeface="+mn-ea"/>
                <a:cs typeface="Pretendard Bold"/>
              </a:rPr>
              <a:t>정보의 격차</a:t>
            </a:r>
          </a:p>
        </p:txBody>
      </p:sp>
      <p:pic>
        <p:nvPicPr>
          <p:cNvPr id="17" name="Picture 22">
            <a:extLst>
              <a:ext uri="{FF2B5EF4-FFF2-40B4-BE49-F238E27FC236}">
                <a16:creationId xmlns:a16="http://schemas.microsoft.com/office/drawing/2014/main" id="{C2B56E82-BB2A-1672-3078-2F982D06D7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57700" y="88900"/>
            <a:ext cx="1142999" cy="1245052"/>
          </a:xfrm>
          <a:prstGeom prst="rect">
            <a:avLst/>
          </a:prstGeom>
        </p:spPr>
      </p:pic>
      <p:sp>
        <p:nvSpPr>
          <p:cNvPr id="15" name="TextBox 5"/>
          <p:cNvSpPr txBox="1"/>
          <p:nvPr/>
        </p:nvSpPr>
        <p:spPr>
          <a:xfrm>
            <a:off x="1207008" y="2011680"/>
            <a:ext cx="3931920" cy="146304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b="1" dirty="0">
                <a:solidFill>
                  <a:srgbClr val="1B1B1B"/>
                </a:solidFill>
                <a:latin typeface="+mn-ea"/>
                <a:cs typeface="Pretendard Bold"/>
              </a:rPr>
              <a:t>Pivot</a:t>
            </a:r>
            <a:endParaRPr lang="en-US" sz="4000" b="1" i="0" u="none" strike="noStrike" dirty="0">
              <a:solidFill>
                <a:srgbClr val="1B1B1B"/>
              </a:solidFill>
              <a:latin typeface="+mn-ea"/>
              <a:cs typeface="Pretendard Bold"/>
            </a:endParaRPr>
          </a:p>
          <a:p>
            <a:pPr lvl="0" algn="l">
              <a:lnSpc>
                <a:spcPct val="116199"/>
              </a:lnSpc>
            </a:pPr>
            <a:r>
              <a:rPr lang="en-US" sz="2600" b="0" i="0" u="none" strike="noStrike" dirty="0" err="1">
                <a:solidFill>
                  <a:srgbClr val="CA591B"/>
                </a:solidFill>
                <a:latin typeface="+mn-ea"/>
                <a:cs typeface="Pretendard Bold"/>
              </a:rPr>
              <a:t>공통</a:t>
            </a:r>
            <a:r>
              <a:rPr lang="en-US" sz="2600" b="0" i="0" u="none" strike="noStrike" dirty="0">
                <a:solidFill>
                  <a:srgbClr val="CA591B"/>
                </a:solidFill>
                <a:latin typeface="+mn-ea"/>
                <a:cs typeface="Pretendard Bold"/>
              </a:rPr>
              <a:t> </a:t>
            </a:r>
            <a:r>
              <a:rPr lang="en-US" sz="2600" b="0" i="0" u="none" strike="noStrike" dirty="0" err="1">
                <a:solidFill>
                  <a:srgbClr val="CA591B"/>
                </a:solidFill>
                <a:latin typeface="+mn-ea"/>
                <a:cs typeface="Pretendard Bold"/>
              </a:rPr>
              <a:t>페인포인트</a:t>
            </a:r>
            <a:r>
              <a:rPr lang="ko-KR" altLang="en-US" sz="2600" b="0" i="0" u="none" strike="noStrike" dirty="0">
                <a:solidFill>
                  <a:srgbClr val="CA591B"/>
                </a:solidFill>
                <a:latin typeface="+mn-ea"/>
                <a:cs typeface="Pretendard Bold"/>
              </a:rPr>
              <a:t> </a:t>
            </a:r>
            <a:r>
              <a:rPr lang="ko-KR" altLang="en-US" sz="2600" b="1" i="0" u="none" strike="noStrike" dirty="0">
                <a:solidFill>
                  <a:srgbClr val="CA591B"/>
                </a:solidFill>
                <a:latin typeface="+mn-ea"/>
                <a:cs typeface="Pretendard Bold"/>
              </a:rPr>
              <a:t>발견</a:t>
            </a:r>
            <a:endParaRPr lang="en-US" sz="2600" b="1" i="0" u="none" strike="noStrike" dirty="0">
              <a:solidFill>
                <a:srgbClr val="CA591B"/>
              </a:solidFill>
              <a:latin typeface="+mn-ea"/>
              <a:cs typeface="Pretendard Bold"/>
            </a:endParaRPr>
          </a:p>
        </p:txBody>
      </p:sp>
      <p:sp>
        <p:nvSpPr>
          <p:cNvPr id="16" name="TextBox 5"/>
          <p:cNvSpPr txBox="1"/>
          <p:nvPr/>
        </p:nvSpPr>
        <p:spPr>
          <a:xfrm>
            <a:off x="5829300" y="1911095"/>
            <a:ext cx="2240280" cy="82296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800" b="0" i="0" u="none" strike="noStrike">
                <a:solidFill>
                  <a:srgbClr val="CA591B"/>
                </a:solidFill>
                <a:latin typeface="+mn-ea"/>
                <a:cs typeface="Pretendard Bold"/>
              </a:rPr>
              <a:t>같은 품목, 다른 값</a:t>
            </a:r>
          </a:p>
        </p:txBody>
      </p:sp>
      <p:sp>
        <p:nvSpPr>
          <p:cNvPr id="18" name="TextBox 8"/>
          <p:cNvSpPr txBox="1"/>
          <p:nvPr/>
        </p:nvSpPr>
        <p:spPr>
          <a:xfrm>
            <a:off x="5829300" y="4297680"/>
            <a:ext cx="2240280" cy="82296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800" b="0" i="0" u="none" strike="noStrike">
                <a:solidFill>
                  <a:srgbClr val="CA591B"/>
                </a:solidFill>
                <a:latin typeface="+mn-ea"/>
                <a:cs typeface="Pretendard Bold"/>
              </a:rPr>
              <a:t>지인 도움으로 선정</a:t>
            </a:r>
          </a:p>
        </p:txBody>
      </p:sp>
      <p:sp>
        <p:nvSpPr>
          <p:cNvPr id="19" name="TextBox 11"/>
          <p:cNvSpPr txBox="1"/>
          <p:nvPr/>
        </p:nvSpPr>
        <p:spPr>
          <a:xfrm>
            <a:off x="5829300" y="6711696"/>
            <a:ext cx="2240280" cy="82296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800" b="0" i="0" u="none" strike="noStrike">
                <a:solidFill>
                  <a:srgbClr val="CA591B"/>
                </a:solidFill>
                <a:latin typeface="+mn-ea"/>
                <a:cs typeface="Pretendard Bold"/>
              </a:rPr>
              <a:t>비교에 드는 시간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2667">
              <a:srgbClr val="FFFFFF"/>
            </a:gs>
            <a:gs pos="100000">
              <a:srgbClr val="FFEDD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13100" y="4207256"/>
            <a:ext cx="14503400" cy="1676400"/>
          </a:xfrm>
          <a:prstGeom prst="rect">
            <a:avLst/>
          </a:prstGeom>
          <a:effectLst>
            <a:outerShdw blurRad="502920" dir="2700000">
              <a:srgbClr val="1B1B1B">
                <a:alpha val="7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457200" y="685800"/>
            <a:ext cx="2489200" cy="635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206500" y="723900"/>
            <a:ext cx="58801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000" b="1" i="0" u="none" strike="noStrike" dirty="0">
                <a:solidFill>
                  <a:srgbClr val="1B1B1B"/>
                </a:solidFill>
                <a:latin typeface="+mn-ea"/>
                <a:cs typeface="S-Core Dream 4 Regular"/>
              </a:rPr>
              <a:t>I</a:t>
            </a:r>
            <a:r>
              <a:rPr lang="en-US" sz="5000" b="1" dirty="0">
                <a:solidFill>
                  <a:srgbClr val="1B1B1B"/>
                </a:solidFill>
                <a:latin typeface="+mn-ea"/>
                <a:cs typeface="S-Core Dream 4 Regular"/>
              </a:rPr>
              <a:t>nterview</a:t>
            </a:r>
            <a:endParaRPr lang="en-US" sz="5000" b="1" i="0" u="none" strike="noStrike" dirty="0">
              <a:solidFill>
                <a:srgbClr val="1B1B1B"/>
              </a:solidFill>
              <a:latin typeface="+mn-ea"/>
              <a:cs typeface="S-Core Dream 4 Regula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583291" y="4620006"/>
            <a:ext cx="30226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 dirty="0">
                <a:solidFill>
                  <a:srgbClr val="1B1B1B"/>
                </a:solidFill>
                <a:latin typeface="+mn-ea"/>
                <a:cs typeface="Pretendard Bold"/>
              </a:rPr>
              <a:t>호0고 </a:t>
            </a:r>
            <a:r>
              <a:rPr lang="en-US" sz="2000" b="0" i="0" u="none" strike="noStrike" dirty="0" err="1">
                <a:solidFill>
                  <a:srgbClr val="1B1B1B"/>
                </a:solidFill>
                <a:latin typeface="+mn-ea"/>
                <a:cs typeface="Pretendard Bold"/>
              </a:rPr>
              <a:t>사장님</a:t>
            </a:r>
            <a:endParaRPr lang="en-US" sz="2000" b="0" i="0" u="none" strike="noStrike" dirty="0">
              <a:solidFill>
                <a:srgbClr val="1B1B1B"/>
              </a:solidFill>
              <a:latin typeface="+mn-ea"/>
              <a:cs typeface="Pretendard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943600" y="4461256"/>
            <a:ext cx="11912600" cy="863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400" b="0" i="0" u="none" strike="noStrike">
                <a:solidFill>
                  <a:srgbClr val="1B1B1B"/>
                </a:solidFill>
                <a:latin typeface="+mn-ea"/>
                <a:cs typeface="Pretendard Regular"/>
              </a:rPr>
              <a:t>개업 초기엔 “제가 초기에는 좀 비싸게 쓰고 있었거든요”</a:t>
            </a:r>
          </a:p>
          <a:p>
            <a:pPr lvl="0" algn="l">
              <a:lnSpc>
                <a:spcPct val="124499"/>
              </a:lnSpc>
            </a:pPr>
            <a:r>
              <a:rPr lang="en-US" sz="2400" b="0" i="0" u="none" strike="noStrike">
                <a:solidFill>
                  <a:srgbClr val="1B1B1B"/>
                </a:solidFill>
                <a:latin typeface="+mn-ea"/>
                <a:cs typeface="Pretendard Regular"/>
              </a:rPr>
              <a:t>“모든 건 업체가 뭐가 있는지를 일단 보는 게 좀 어렵죠.</a:t>
            </a:r>
          </a:p>
          <a:p>
            <a:pPr lvl="0" algn="l">
              <a:lnSpc>
                <a:spcPct val="124499"/>
              </a:lnSpc>
            </a:pPr>
            <a:r>
              <a:rPr lang="en-US" sz="2400" b="0" i="0" u="none" strike="noStrike">
                <a:solidFill>
                  <a:srgbClr val="1B1B1B"/>
                </a:solidFill>
                <a:latin typeface="+mn-ea"/>
                <a:cs typeface="Pretendard Regular"/>
              </a:rPr>
              <a:t>판단하는 건 어차피 그렇게 어렵진 않아”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13100" y="2389989"/>
            <a:ext cx="14503400" cy="1676400"/>
          </a:xfrm>
          <a:prstGeom prst="rect">
            <a:avLst/>
          </a:prstGeom>
          <a:effectLst>
            <a:outerShdw blurRad="502920" dir="2700000">
              <a:srgbClr val="1B1B1B">
                <a:alpha val="7000"/>
              </a:srgbClr>
            </a:outerShdw>
          </a:effectLst>
        </p:spPr>
      </p:pic>
      <p:sp>
        <p:nvSpPr>
          <p:cNvPr id="8" name="TextBox 8"/>
          <p:cNvSpPr txBox="1"/>
          <p:nvPr/>
        </p:nvSpPr>
        <p:spPr>
          <a:xfrm>
            <a:off x="3568700" y="2815844"/>
            <a:ext cx="30226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 dirty="0">
                <a:solidFill>
                  <a:srgbClr val="1B1B1B"/>
                </a:solidFill>
                <a:latin typeface="+mn-ea"/>
                <a:cs typeface="Pretendard Bold"/>
              </a:rPr>
              <a:t>하0돼지집 </a:t>
            </a:r>
            <a:r>
              <a:rPr lang="en-US" sz="2000" b="0" i="0" u="none" strike="noStrike" dirty="0" err="1">
                <a:solidFill>
                  <a:srgbClr val="1B1B1B"/>
                </a:solidFill>
                <a:latin typeface="+mn-ea"/>
                <a:cs typeface="Pretendard Bold"/>
              </a:rPr>
              <a:t>사장님</a:t>
            </a:r>
            <a:endParaRPr lang="en-US" sz="2000" b="0" i="0" u="none" strike="noStrike" dirty="0">
              <a:solidFill>
                <a:srgbClr val="1B1B1B"/>
              </a:solidFill>
              <a:latin typeface="+mn-ea"/>
              <a:cs typeface="Pretendard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969000" y="2892044"/>
            <a:ext cx="11887200" cy="863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400" b="0" i="0" u="none" strike="noStrike">
                <a:solidFill>
                  <a:srgbClr val="1B1B1B"/>
                </a:solidFill>
                <a:latin typeface="+mn-ea"/>
                <a:cs typeface="Pretendard Regular"/>
              </a:rPr>
              <a:t>개업 초기 — “처음엔 그래도 꽤 다녔지. … 큰 업체는 그래도 한 10여 곳은 가봤지”
업체 정보는 찾아오는 쪽에서 — “가게를 오픈하거나 하면 계속 들어와 홍보를 해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13100" y="6273800"/>
            <a:ext cx="14503400" cy="1676400"/>
          </a:xfrm>
          <a:prstGeom prst="rect">
            <a:avLst/>
          </a:prstGeom>
          <a:effectLst>
            <a:outerShdw blurRad="502920" dir="2700000">
              <a:srgbClr val="1B1B1B">
                <a:alpha val="7000"/>
              </a:srgbClr>
            </a:outerShdw>
          </a:effectLst>
        </p:spPr>
      </p:pic>
      <p:sp>
        <p:nvSpPr>
          <p:cNvPr id="11" name="TextBox 11"/>
          <p:cNvSpPr txBox="1"/>
          <p:nvPr/>
        </p:nvSpPr>
        <p:spPr>
          <a:xfrm>
            <a:off x="3568700" y="6718300"/>
            <a:ext cx="30226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1B1B1B"/>
                </a:solidFill>
                <a:latin typeface="+mn-ea"/>
                <a:cs typeface="Pretendard Bold"/>
              </a:rPr>
              <a:t>샐0디 사장님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69000" y="6781800"/>
            <a:ext cx="78105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400" b="0" i="0" u="none" strike="noStrike">
                <a:solidFill>
                  <a:srgbClr val="1B1B1B"/>
                </a:solidFill>
                <a:latin typeface="+mn-ea"/>
                <a:cs typeface="Pretendard Regular"/>
              </a:rPr>
              <a:t>“가격이 인터넷이라고 업체마다 다 나오는 게 아니기 때문에”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18000" y="959612"/>
            <a:ext cx="12763500" cy="609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1" i="0" u="none" strike="noStrike" dirty="0" err="1">
                <a:solidFill>
                  <a:srgbClr val="CA591B"/>
                </a:solidFill>
                <a:latin typeface="+mn-ea"/>
                <a:cs typeface="Pretendard Bold"/>
              </a:rPr>
              <a:t>가설</a:t>
            </a:r>
            <a:r>
              <a:rPr lang="en-US" sz="3200" b="1" i="0" u="none" strike="noStrike" dirty="0">
                <a:solidFill>
                  <a:srgbClr val="CA591B"/>
                </a:solidFill>
                <a:latin typeface="+mn-ea"/>
                <a:cs typeface="Pretendard Bold"/>
              </a:rPr>
              <a:t> 2   </a:t>
            </a:r>
            <a:r>
              <a:rPr lang="en-US" sz="3200" b="0" i="1" u="none" strike="noStrike" dirty="0" err="1">
                <a:solidFill>
                  <a:srgbClr val="1B1B1B"/>
                </a:solidFill>
                <a:latin typeface="+mn-ea"/>
                <a:cs typeface="Pretendard Bold"/>
              </a:rPr>
              <a:t>개업</a:t>
            </a:r>
            <a:r>
              <a:rPr lang="en-US" sz="3200" b="0" i="1" u="none" strike="noStrike" dirty="0">
                <a:solidFill>
                  <a:srgbClr val="1B1B1B"/>
                </a:solidFill>
                <a:latin typeface="+mn-ea"/>
                <a:cs typeface="Pretendard Bold"/>
              </a:rPr>
              <a:t> </a:t>
            </a:r>
            <a:r>
              <a:rPr lang="en-US" sz="3200" b="0" i="1" u="none" strike="noStrike" dirty="0" err="1">
                <a:solidFill>
                  <a:srgbClr val="1B1B1B"/>
                </a:solidFill>
                <a:latin typeface="+mn-ea"/>
                <a:cs typeface="Pretendard Bold"/>
              </a:rPr>
              <a:t>초기·초보</a:t>
            </a:r>
            <a:r>
              <a:rPr lang="en-US" sz="3200" b="0" i="1" u="none" strike="noStrike" dirty="0">
                <a:solidFill>
                  <a:srgbClr val="1B1B1B"/>
                </a:solidFill>
                <a:latin typeface="+mn-ea"/>
                <a:cs typeface="Pretendard Bold"/>
              </a:rPr>
              <a:t> </a:t>
            </a:r>
            <a:r>
              <a:rPr lang="en-US" sz="3200" b="0" i="1" u="none" strike="noStrike" dirty="0" err="1">
                <a:solidFill>
                  <a:srgbClr val="1B1B1B"/>
                </a:solidFill>
                <a:latin typeface="+mn-ea"/>
                <a:cs typeface="Pretendard Bold"/>
              </a:rPr>
              <a:t>사장님은</a:t>
            </a:r>
            <a:r>
              <a:rPr lang="en-US" sz="3200" b="0" i="1" u="none" strike="noStrike" dirty="0">
                <a:solidFill>
                  <a:srgbClr val="1B1B1B"/>
                </a:solidFill>
                <a:latin typeface="+mn-ea"/>
                <a:cs typeface="Pretendard Bold"/>
              </a:rPr>
              <a:t> </a:t>
            </a:r>
            <a:r>
              <a:rPr lang="en-US" sz="3200" b="0" i="1" u="none" strike="noStrike" dirty="0" err="1">
                <a:solidFill>
                  <a:srgbClr val="1B1B1B"/>
                </a:solidFill>
                <a:latin typeface="+mn-ea"/>
                <a:cs typeface="Pretendard Bold"/>
              </a:rPr>
              <a:t>정보</a:t>
            </a:r>
            <a:r>
              <a:rPr lang="en-US" sz="3200" b="0" i="1" u="none" strike="noStrike" dirty="0">
                <a:solidFill>
                  <a:srgbClr val="1B1B1B"/>
                </a:solidFill>
                <a:latin typeface="+mn-ea"/>
                <a:cs typeface="Pretendard Bold"/>
              </a:rPr>
              <a:t> </a:t>
            </a:r>
            <a:r>
              <a:rPr lang="en-US" sz="3200" b="0" i="1" u="none" strike="noStrike" dirty="0" err="1">
                <a:solidFill>
                  <a:srgbClr val="1B1B1B"/>
                </a:solidFill>
                <a:latin typeface="+mn-ea"/>
                <a:cs typeface="Pretendard Bold"/>
              </a:rPr>
              <a:t>격차로</a:t>
            </a:r>
            <a:r>
              <a:rPr lang="en-US" sz="3200" b="0" i="1" u="none" strike="noStrike" dirty="0">
                <a:solidFill>
                  <a:srgbClr val="1B1B1B"/>
                </a:solidFill>
                <a:latin typeface="+mn-ea"/>
                <a:cs typeface="Pretendard Bold"/>
              </a:rPr>
              <a:t> </a:t>
            </a:r>
            <a:r>
              <a:rPr lang="en-US" sz="3200" b="0" i="1" u="none" strike="noStrike" dirty="0" err="1">
                <a:solidFill>
                  <a:srgbClr val="1B1B1B"/>
                </a:solidFill>
                <a:latin typeface="+mn-ea"/>
                <a:cs typeface="Pretendard Bold"/>
              </a:rPr>
              <a:t>좋은</a:t>
            </a:r>
            <a:r>
              <a:rPr lang="en-US" sz="3200" b="0" i="1" u="none" strike="noStrike" dirty="0">
                <a:solidFill>
                  <a:srgbClr val="1B1B1B"/>
                </a:solidFill>
                <a:latin typeface="+mn-ea"/>
                <a:cs typeface="Pretendard Bold"/>
              </a:rPr>
              <a:t> </a:t>
            </a:r>
            <a:r>
              <a:rPr lang="en-US" sz="3200" b="0" i="1" u="none" strike="noStrike" dirty="0" err="1">
                <a:solidFill>
                  <a:srgbClr val="1B1B1B"/>
                </a:solidFill>
                <a:latin typeface="+mn-ea"/>
                <a:cs typeface="Pretendard Bold"/>
              </a:rPr>
              <a:t>발견이</a:t>
            </a:r>
            <a:r>
              <a:rPr lang="en-US" sz="3200" b="0" i="1" u="none" strike="noStrike" dirty="0">
                <a:solidFill>
                  <a:srgbClr val="1B1B1B"/>
                </a:solidFill>
                <a:latin typeface="+mn-ea"/>
                <a:cs typeface="Pretendard Bold"/>
              </a:rPr>
              <a:t> </a:t>
            </a:r>
            <a:r>
              <a:rPr lang="en-US" sz="3200" b="0" i="1" u="none" strike="noStrike" dirty="0" err="1">
                <a:solidFill>
                  <a:srgbClr val="1B1B1B"/>
                </a:solidFill>
                <a:latin typeface="+mn-ea"/>
                <a:cs typeface="Pretendard Bold"/>
              </a:rPr>
              <a:t>어렵다</a:t>
            </a:r>
            <a:endParaRPr lang="en-US" sz="4000" b="0" i="1" u="none" strike="noStrike" dirty="0">
              <a:solidFill>
                <a:srgbClr val="1B1B1B"/>
              </a:solidFill>
              <a:latin typeface="+mn-ea"/>
              <a:cs typeface="Pretendard Bold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13100" y="8267700"/>
            <a:ext cx="14503400" cy="1676400"/>
          </a:xfrm>
          <a:prstGeom prst="rect">
            <a:avLst/>
          </a:prstGeom>
          <a:effectLst>
            <a:outerShdw blurRad="502920" dir="2700000">
              <a:srgbClr val="1B1B1B">
                <a:alpha val="7000"/>
              </a:srgbClr>
            </a:outerShdw>
          </a:effectLst>
        </p:spPr>
      </p:pic>
      <p:sp>
        <p:nvSpPr>
          <p:cNvPr id="15" name="TextBox 15"/>
          <p:cNvSpPr txBox="1"/>
          <p:nvPr/>
        </p:nvSpPr>
        <p:spPr>
          <a:xfrm>
            <a:off x="3568700" y="8674100"/>
            <a:ext cx="30226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1B1B1B"/>
                </a:solidFill>
                <a:latin typeface="+mn-ea"/>
                <a:cs typeface="Pretendard Bold"/>
              </a:rPr>
              <a:t>찜닭집 사장님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69000" y="8915400"/>
            <a:ext cx="126365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400" b="0" i="0" u="none" strike="noStrike">
                <a:solidFill>
                  <a:srgbClr val="1B1B1B"/>
                </a:solidFill>
                <a:latin typeface="+mn-ea"/>
                <a:cs typeface="Pretendard Regular"/>
              </a:rPr>
              <a:t>“수원만 해도 한 세 군데 정도 좀 싸고 질 좋은 데 찾아다니는 거지”</a:t>
            </a:r>
          </a:p>
        </p:txBody>
      </p:sp>
      <p:pic>
        <p:nvPicPr>
          <p:cNvPr id="19" name="Picture 22">
            <a:extLst>
              <a:ext uri="{FF2B5EF4-FFF2-40B4-BE49-F238E27FC236}">
                <a16:creationId xmlns:a16="http://schemas.microsoft.com/office/drawing/2014/main" id="{33DBC48C-1B9F-C25F-B00F-7DB9990A58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57700" y="88900"/>
            <a:ext cx="1142999" cy="12450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2667">
              <a:srgbClr val="FFFFFF"/>
            </a:gs>
            <a:gs pos="100000">
              <a:srgbClr val="FFEDD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457200" y="685800"/>
            <a:ext cx="2489200" cy="63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206500" y="723900"/>
            <a:ext cx="58801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000" b="1" dirty="0">
                <a:solidFill>
                  <a:srgbClr val="1B1B1B"/>
                </a:solidFill>
                <a:latin typeface="+mn-ea"/>
                <a:cs typeface="S-Core Dream 4 Regular"/>
              </a:rPr>
              <a:t>Interview</a:t>
            </a:r>
            <a:endParaRPr lang="en-US" sz="5000" b="1" i="0" u="none" strike="noStrike" dirty="0">
              <a:solidFill>
                <a:srgbClr val="1B1B1B"/>
              </a:solidFill>
              <a:latin typeface="+mn-ea"/>
              <a:cs typeface="S-Core Dream 4 Regular"/>
            </a:endParaRPr>
          </a:p>
        </p:txBody>
      </p:sp>
      <p:pic>
        <p:nvPicPr>
          <p:cNvPr id="7" name="Picture 22">
            <a:extLst>
              <a:ext uri="{FF2B5EF4-FFF2-40B4-BE49-F238E27FC236}">
                <a16:creationId xmlns:a16="http://schemas.microsoft.com/office/drawing/2014/main" id="{013580D6-B537-A5D3-A0D2-2217C35E4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57700" y="88900"/>
            <a:ext cx="1142999" cy="1245052"/>
          </a:xfrm>
          <a:prstGeom prst="rect">
            <a:avLst/>
          </a:prstGeom>
        </p:spPr>
      </p:pic>
      <p:pic>
        <p:nvPicPr>
          <p:cNvPr id="8" name="Picture 7" descr="정보격차_그림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1828800"/>
            <a:ext cx="13716000" cy="4800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743200" y="7086600"/>
            <a:ext cx="1280160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CA59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0" y="7269480"/>
            <a:ext cx="1207008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8A837B"/>
                </a:solidFill>
              </a:rPr>
              <a:t>정보가 없는, 베테랑이 아닌 사장님들의</a:t>
            </a:r>
          </a:p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CA591B"/>
                </a:solidFill>
              </a:rPr>
              <a:t>“정보 격차 문제</a:t>
            </a:r>
            <a:r>
              <a:rPr sz="4000" b="1">
                <a:solidFill>
                  <a:srgbClr val="1B1B1B"/>
                </a:solidFill>
              </a:rPr>
              <a:t>를 해결하겠습니다”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2667">
              <a:srgbClr val="FFFFFF"/>
            </a:gs>
            <a:gs pos="100000">
              <a:srgbClr val="FFEDD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54800" y="749300"/>
            <a:ext cx="10883900" cy="8788400"/>
          </a:xfrm>
          <a:prstGeom prst="rect">
            <a:avLst/>
          </a:prstGeom>
          <a:effectLst>
            <a:outerShdw blurRad="2634615" dir="2700000">
              <a:srgbClr val="1B1B1B">
                <a:alpha val="7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457200" y="685800"/>
            <a:ext cx="2489200" cy="635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219200" y="723900"/>
            <a:ext cx="58801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endParaRPr lang="en-US" altLang="ko-KR" sz="5400" b="1" dirty="0">
              <a:solidFill>
                <a:srgbClr val="1B1B1B"/>
              </a:solidFill>
              <a:latin typeface="+mn-ea"/>
              <a:cs typeface="Pretendard Bold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4432300"/>
            <a:ext cx="8337920" cy="47117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7518400" y="1511300"/>
            <a:ext cx="60706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72999" lvl="1" indent="-372999" algn="l">
              <a:lnSpc>
                <a:spcPct val="116199"/>
              </a:lnSpc>
              <a:buAutoNum type="arabicPeriod"/>
            </a:pPr>
            <a:r>
              <a:rPr lang="en-US" sz="2937" b="0" i="0" u="none" strike="noStrike">
                <a:solidFill>
                  <a:srgbClr val="1B1B1B"/>
                </a:solidFill>
                <a:latin typeface="+mn-ea"/>
                <a:cs typeface="Pretendard Bold"/>
              </a:rPr>
              <a:t>간단한 조건 검색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5700" y="2120900"/>
            <a:ext cx="5537200" cy="4572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450" b="0" i="0" u="none" strike="noStrike">
                <a:solidFill>
                  <a:srgbClr val="1B1B1B"/>
                </a:solidFill>
                <a:latin typeface="+mn-ea"/>
                <a:cs typeface="Pretendard Medium"/>
              </a:rPr>
              <a:t>조건에 맞는 후보 업체를 한눈에 리스트업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18400" y="2921000"/>
            <a:ext cx="60706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7" b="0" i="0" u="none" strike="noStrike">
                <a:solidFill>
                  <a:srgbClr val="1B1B1B"/>
                </a:solidFill>
                <a:latin typeface="+mn-ea"/>
                <a:cs typeface="Pretendard Bold"/>
              </a:rPr>
              <a:t>2. 아는 가게의 팔로우 업체 보기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05700" y="3543300"/>
            <a:ext cx="5537200" cy="4572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450" b="0" i="0" u="none" strike="noStrike">
                <a:solidFill>
                  <a:srgbClr val="1B1B1B"/>
                </a:solidFill>
                <a:latin typeface="+mn-ea"/>
                <a:cs typeface="Pretendard Medium"/>
              </a:rPr>
              <a:t>내가 아는 가게가 어떤 업체를 팔로우하는지 확인</a:t>
            </a:r>
            <a:endParaRPr lang="en-US" sz="2450" b="0" i="0" u="none" strike="noStrike" dirty="0">
              <a:solidFill>
                <a:srgbClr val="1B1B1B"/>
              </a:solidFill>
              <a:latin typeface="+mn-ea"/>
              <a:cs typeface="Pretendard Medium"/>
            </a:endParaRPr>
          </a:p>
        </p:txBody>
      </p:sp>
      <p:pic>
        <p:nvPicPr>
          <p:cNvPr id="14" name="Picture 22">
            <a:extLst>
              <a:ext uri="{FF2B5EF4-FFF2-40B4-BE49-F238E27FC236}">
                <a16:creationId xmlns:a16="http://schemas.microsoft.com/office/drawing/2014/main" id="{1456CD40-FBEB-23DE-F92F-3DD91E127E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57700" y="88900"/>
            <a:ext cx="1142999" cy="1245052"/>
          </a:xfrm>
          <a:prstGeom prst="rect">
            <a:avLst/>
          </a:prstGeom>
        </p:spPr>
      </p:pic>
      <p:pic>
        <p:nvPicPr>
          <p:cNvPr id="13" name="Picture 8">
            <a:extLst>
              <a:ext uri="{FF2B5EF4-FFF2-40B4-BE49-F238E27FC236}">
                <a16:creationId xmlns:a16="http://schemas.microsoft.com/office/drawing/2014/main" id="{25C8FA8D-4E04-727C-84E7-62D212AEE3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3149" y="2935151"/>
            <a:ext cx="4490357" cy="48839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7A85BC2-74F1-F964-332F-680D2D40A15C}"/>
              </a:ext>
            </a:extLst>
          </p:cNvPr>
          <p:cNvSpPr txBox="1"/>
          <p:nvPr/>
        </p:nvSpPr>
        <p:spPr>
          <a:xfrm>
            <a:off x="1066800" y="723900"/>
            <a:ext cx="5257800" cy="901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6199"/>
              </a:lnSpc>
            </a:pPr>
            <a:r>
              <a:rPr lang="en-US" altLang="ko-KR" sz="4800" b="1" dirty="0">
                <a:solidFill>
                  <a:srgbClr val="1B1B1B"/>
                </a:solidFill>
                <a:latin typeface="+mn-ea"/>
                <a:cs typeface="S-Core Dream 4 Regular"/>
              </a:rPr>
              <a:t>Service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2667">
              <a:srgbClr val="FFFFFF"/>
            </a:gs>
            <a:gs pos="100000">
              <a:srgbClr val="FFEDD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-457200" y="685800"/>
            <a:ext cx="2489200" cy="63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206500" y="723900"/>
            <a:ext cx="58801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5400" b="1" dirty="0" err="1">
                <a:solidFill>
                  <a:srgbClr val="1B1B1B"/>
                </a:solidFill>
                <a:latin typeface="+mn-ea"/>
                <a:cs typeface="Pretendard Bold"/>
              </a:rPr>
              <a:t>Senario</a:t>
            </a:r>
            <a:r>
              <a:rPr lang="en-US" altLang="ko-KR" sz="5400" b="1" dirty="0">
                <a:solidFill>
                  <a:srgbClr val="1B1B1B"/>
                </a:solidFill>
                <a:latin typeface="+mn-ea"/>
                <a:cs typeface="Pretendard Bold"/>
              </a:rPr>
              <a:t> &amp; MVP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6400" y="2146300"/>
            <a:ext cx="3225800" cy="4318000"/>
          </a:xfrm>
          <a:prstGeom prst="rect">
            <a:avLst/>
          </a:prstGeom>
          <a:effectLst>
            <a:outerShdw blurRad="965835" dir="2700000">
              <a:srgbClr val="1B1B1B">
                <a:alpha val="7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91100" y="4102100"/>
            <a:ext cx="406400" cy="406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26500" y="4102100"/>
            <a:ext cx="406400" cy="406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99100" y="2146300"/>
            <a:ext cx="3225800" cy="4318000"/>
          </a:xfrm>
          <a:prstGeom prst="rect">
            <a:avLst/>
          </a:prstGeom>
          <a:effectLst>
            <a:outerShdw blurRad="965835" dir="2700000">
              <a:srgbClr val="1B1B1B">
                <a:alpha val="7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2700" y="3124200"/>
            <a:ext cx="1511300" cy="149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34500" y="2146300"/>
            <a:ext cx="3225800" cy="4318000"/>
          </a:xfrm>
          <a:prstGeom prst="rect">
            <a:avLst/>
          </a:prstGeom>
          <a:effectLst>
            <a:outerShdw blurRad="965835" dir="2700000">
              <a:srgbClr val="1B1B1B">
                <a:alpha val="7000"/>
              </a:srgbClr>
            </a:outerShdw>
          </a:effectLst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85400" y="3124200"/>
            <a:ext cx="1511300" cy="1498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18300" y="3530600"/>
            <a:ext cx="787400" cy="787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53700" y="3479800"/>
            <a:ext cx="7874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866900" y="4851400"/>
            <a:ext cx="2832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397" b="0" i="0" u="none" strike="noStrike">
                <a:solidFill>
                  <a:srgbClr val="1B1B1B"/>
                </a:solidFill>
                <a:latin typeface="+mn-ea"/>
                <a:cs typeface="Pretendard Bold"/>
              </a:rPr>
              <a:t>조건 입력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92300" y="5384800"/>
            <a:ext cx="27686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000" b="0" i="0" u="none" strike="noStrike">
                <a:solidFill>
                  <a:srgbClr val="1B1B1B"/>
                </a:solidFill>
                <a:latin typeface="+mn-ea"/>
                <a:cs typeface="Pretendard Regular"/>
              </a:rPr>
              <a:t>품목, 주문량, 거리 등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19300" y="2463800"/>
            <a:ext cx="25400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2000" b="0" i="0" u="none" strike="noStrike" cap="all">
                <a:solidFill>
                  <a:srgbClr val="1B1B1B"/>
                </a:solidFill>
                <a:latin typeface="+mn-ea"/>
                <a:cs typeface="Pretendard SemiBold"/>
              </a:rPr>
              <a:t>step 01.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15000" y="4851400"/>
            <a:ext cx="27813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397" b="0" i="0" u="none" strike="noStrike">
                <a:solidFill>
                  <a:srgbClr val="1B1B1B"/>
                </a:solidFill>
                <a:latin typeface="+mn-ea"/>
                <a:cs typeface="Pretendard Bold"/>
              </a:rPr>
              <a:t>업체 리스트업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727700" y="5384800"/>
            <a:ext cx="27686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000" b="0" i="0" u="none" strike="noStrike">
                <a:solidFill>
                  <a:srgbClr val="1B1B1B"/>
                </a:solidFill>
                <a:latin typeface="+mn-ea"/>
                <a:cs typeface="Pretendard Regular"/>
              </a:rPr>
              <a:t>조건에 맞는 업체 목록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42000" y="2463800"/>
            <a:ext cx="25400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2000" b="0" i="0" u="none" strike="noStrike" cap="all">
                <a:solidFill>
                  <a:srgbClr val="1B1B1B"/>
                </a:solidFill>
                <a:latin typeface="+mn-ea"/>
                <a:cs typeface="Pretendard SemiBold"/>
              </a:rPr>
              <a:t>step 02.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563100" y="4851400"/>
            <a:ext cx="27432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397" b="0" i="0" u="none" strike="noStrike">
                <a:solidFill>
                  <a:srgbClr val="1B1B1B"/>
                </a:solidFill>
                <a:latin typeface="+mn-ea"/>
                <a:cs typeface="Pretendard Bold"/>
              </a:rPr>
              <a:t>업체 탐색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37700" y="5384800"/>
            <a:ext cx="28067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000" b="0" i="0" u="none" strike="noStrike">
                <a:solidFill>
                  <a:srgbClr val="1B1B1B"/>
                </a:solidFill>
                <a:latin typeface="+mn-ea"/>
                <a:cs typeface="Pretendard Regular"/>
              </a:rPr>
              <a:t>거래처 수 · 후기 확인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77400" y="2463800"/>
            <a:ext cx="25400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2000" b="0" i="0" u="none" strike="noStrike" cap="all">
                <a:solidFill>
                  <a:srgbClr val="1B1B1B"/>
                </a:solidFill>
                <a:latin typeface="+mn-ea"/>
                <a:cs typeface="Pretendard SemiBold"/>
              </a:rPr>
              <a:t>step 03.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69900" y="2146300"/>
            <a:ext cx="3225800" cy="4318000"/>
          </a:xfrm>
          <a:prstGeom prst="rect">
            <a:avLst/>
          </a:prstGeom>
          <a:effectLst>
            <a:outerShdw blurRad="965835" dir="2700000">
              <a:srgbClr val="1B1B1B">
                <a:alpha val="7000"/>
              </a:srgbClr>
            </a:outerShdw>
          </a:effectLst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020800" y="3124200"/>
            <a:ext cx="1511300" cy="14986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389100" y="3479800"/>
            <a:ext cx="787400" cy="7874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3360400" y="4851400"/>
            <a:ext cx="2832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397" b="0" i="0" u="none" strike="noStrike">
                <a:solidFill>
                  <a:srgbClr val="1B1B1B"/>
                </a:solidFill>
                <a:latin typeface="+mn-ea"/>
                <a:cs typeface="Pretendard Bold"/>
              </a:rPr>
              <a:t>문의 · 거래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385800" y="5384800"/>
            <a:ext cx="27686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000" b="0" i="0" u="none" strike="noStrike">
                <a:solidFill>
                  <a:srgbClr val="1B1B1B"/>
                </a:solidFill>
                <a:latin typeface="+mn-ea"/>
                <a:cs typeface="Pretendard Regular"/>
              </a:rPr>
              <a:t>문의 후 거래 성사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512800" y="2463800"/>
            <a:ext cx="25400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2000" b="0" i="0" u="none" strike="noStrike" cap="all">
                <a:solidFill>
                  <a:srgbClr val="1B1B1B"/>
                </a:solidFill>
                <a:latin typeface="+mn-ea"/>
                <a:cs typeface="Pretendard SemiBold"/>
              </a:rPr>
              <a:t>step 04.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61900" y="4051300"/>
            <a:ext cx="406400" cy="4064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63700" y="7391400"/>
            <a:ext cx="7188200" cy="2146300"/>
          </a:xfrm>
          <a:prstGeom prst="rect">
            <a:avLst/>
          </a:prstGeom>
          <a:effectLst>
            <a:outerShdw blurRad="642938" dir="2700000">
              <a:srgbClr val="1B1B1B">
                <a:alpha val="7000"/>
              </a:srgbClr>
            </a:outerShdw>
          </a:effectLst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71000" y="7391400"/>
            <a:ext cx="7188200" cy="2146300"/>
          </a:xfrm>
          <a:prstGeom prst="rect">
            <a:avLst/>
          </a:prstGeom>
          <a:effectLst>
            <a:outerShdw blurRad="642938" dir="2700000">
              <a:srgbClr val="1B1B1B">
                <a:alpha val="7000"/>
              </a:srgbClr>
            </a:outerShdw>
          </a:effectLst>
        </p:spPr>
      </p:pic>
      <p:sp>
        <p:nvSpPr>
          <p:cNvPr id="31" name="TextBox 31"/>
          <p:cNvSpPr txBox="1"/>
          <p:nvPr/>
        </p:nvSpPr>
        <p:spPr>
          <a:xfrm>
            <a:off x="2184400" y="7810500"/>
            <a:ext cx="6197600" cy="1409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597" b="0" i="0" u="none" strike="noStrike">
                <a:solidFill>
                  <a:schemeClr val="accent6">
                    <a:lumMod val="75000"/>
                  </a:schemeClr>
                </a:solidFill>
                <a:latin typeface="+mn-ea"/>
                <a:cs typeface="Pretendard Bold"/>
              </a:rPr>
              <a:t>MVP</a:t>
            </a:r>
          </a:p>
          <a:p>
            <a:pPr lvl="0" algn="l">
              <a:lnSpc>
                <a:spcPct val="116199"/>
              </a:lnSpc>
            </a:pPr>
            <a:endParaRPr lang="en-US" sz="1600" b="0" i="0" u="none" strike="noStrike" dirty="0">
              <a:solidFill>
                <a:srgbClr val="1B1B1B"/>
              </a:solidFill>
              <a:latin typeface="+mn-ea"/>
              <a:cs typeface="Pretendard Bold"/>
            </a:endParaRP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1B1B1B"/>
                </a:solidFill>
                <a:latin typeface="+mn-ea"/>
                <a:cs typeface="Pretendard Bold"/>
              </a:rPr>
              <a:t>한 지역 · 1~2개 품목군에서 시작</a:t>
            </a:r>
            <a:endParaRPr lang="en-US" sz="3600" b="0" i="0" u="none" strike="noStrike" dirty="0">
              <a:solidFill>
                <a:srgbClr val="1B1B1B"/>
              </a:solidFill>
              <a:latin typeface="+mn-ea"/>
              <a:cs typeface="Pretendard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9867900" y="7810500"/>
            <a:ext cx="6184900" cy="1409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597" b="0" i="0" u="none" strike="noStrike">
                <a:solidFill>
                  <a:schemeClr val="accent6">
                    <a:lumMod val="75000"/>
                  </a:schemeClr>
                </a:solidFill>
                <a:latin typeface="+mn-ea"/>
                <a:cs typeface="Pretendard Bold"/>
              </a:rPr>
              <a:t>논의 중</a:t>
            </a:r>
            <a:endParaRPr lang="en-US" sz="2597" b="0" i="0" u="none" strike="noStrike" dirty="0">
              <a:solidFill>
                <a:schemeClr val="accent6">
                  <a:lumMod val="75000"/>
                </a:schemeClr>
              </a:solidFill>
              <a:latin typeface="+mn-ea"/>
              <a:cs typeface="Pretendard Bold"/>
            </a:endParaRPr>
          </a:p>
          <a:p>
            <a:pPr lvl="0" algn="l">
              <a:lnSpc>
                <a:spcPct val="116199"/>
              </a:lnSpc>
            </a:pPr>
            <a:endParaRPr lang="en-US" sz="1600" b="0" i="0" u="none" strike="noStrike" dirty="0">
              <a:solidFill>
                <a:srgbClr val="1B1B1B"/>
              </a:solidFill>
              <a:latin typeface="+mn-ea"/>
              <a:cs typeface="Pretendard Bold"/>
            </a:endParaRP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1B1B1B"/>
                </a:solidFill>
                <a:latin typeface="+mn-ea"/>
                <a:cs typeface="Pretendard Bold"/>
              </a:rPr>
              <a:t>사장님 커뮤니티 (대화 기능)</a:t>
            </a:r>
            <a:endParaRPr lang="en-US" sz="3600" b="0" i="0" u="none" strike="noStrike" dirty="0">
              <a:solidFill>
                <a:srgbClr val="1B1B1B"/>
              </a:solidFill>
              <a:latin typeface="+mn-ea"/>
              <a:cs typeface="Pretendard Bold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27300" y="3124200"/>
            <a:ext cx="1511300" cy="14986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895600" y="3530600"/>
            <a:ext cx="787400" cy="787400"/>
          </a:xfrm>
          <a:prstGeom prst="rect">
            <a:avLst/>
          </a:prstGeom>
        </p:spPr>
      </p:pic>
      <p:pic>
        <p:nvPicPr>
          <p:cNvPr id="37" name="Picture 22">
            <a:extLst>
              <a:ext uri="{FF2B5EF4-FFF2-40B4-BE49-F238E27FC236}">
                <a16:creationId xmlns:a16="http://schemas.microsoft.com/office/drawing/2014/main" id="{35B70901-0F53-CAE1-993B-1893C14166A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157700" y="88900"/>
            <a:ext cx="1142999" cy="12450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2667">
              <a:srgbClr val="FFFFFF"/>
            </a:gs>
            <a:gs pos="100000">
              <a:srgbClr val="FFEDD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44200" y="1714500"/>
            <a:ext cx="6578600" cy="5295900"/>
          </a:xfrm>
          <a:prstGeom prst="rect">
            <a:avLst/>
          </a:prstGeom>
          <a:effectLst>
            <a:outerShdw blurRad="1588770" dir="2700000">
              <a:srgbClr val="1B1B1B">
                <a:alpha val="7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87800" y="1714500"/>
            <a:ext cx="6578600" cy="5295900"/>
          </a:xfrm>
          <a:prstGeom prst="rect">
            <a:avLst/>
          </a:prstGeom>
          <a:effectLst>
            <a:outerShdw blurRad="1588770" dir="2700000">
              <a:srgbClr val="1B1B1B">
                <a:alpha val="7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-457200" y="685800"/>
            <a:ext cx="2489200" cy="6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46600" y="3911600"/>
            <a:ext cx="368300" cy="368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46600" y="5969000"/>
            <a:ext cx="368300" cy="368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14100" y="3911600"/>
            <a:ext cx="368300" cy="368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14100" y="5969000"/>
            <a:ext cx="368300" cy="368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06500" y="723900"/>
            <a:ext cx="58801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000" b="1" i="0" u="none" strike="noStrike" dirty="0">
                <a:solidFill>
                  <a:srgbClr val="1B1B1B"/>
                </a:solidFill>
                <a:latin typeface="+mn-ea"/>
                <a:cs typeface="S-Core Dream 4 Regular"/>
              </a:rPr>
              <a:t>MVP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54600" y="3860800"/>
            <a:ext cx="5537200" cy="4572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450" b="0" i="0" u="none" strike="noStrike">
                <a:solidFill>
                  <a:srgbClr val="1B1B1B"/>
                </a:solidFill>
                <a:latin typeface="+mn-ea"/>
                <a:cs typeface="Pretendard Medium"/>
              </a:rPr>
              <a:t>품목.지역 선택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57700" y="2336800"/>
            <a:ext cx="60706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7" b="0" i="0" u="none" strike="noStrike">
                <a:solidFill>
                  <a:srgbClr val="1B1B1B"/>
                </a:solidFill>
                <a:latin typeface="+mn-ea"/>
                <a:cs typeface="Pretendard Bold"/>
              </a:rPr>
              <a:t>1. 검색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54600" y="5918200"/>
            <a:ext cx="5537200" cy="4572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450" b="0" i="0" u="none" strike="noStrike">
                <a:solidFill>
                  <a:srgbClr val="1B1B1B"/>
                </a:solidFill>
                <a:latin typeface="+mn-ea"/>
                <a:cs typeface="Pretendard Medium"/>
              </a:rPr>
              <a:t>업체 상세정보 확인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79200" y="2336800"/>
            <a:ext cx="60706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7" b="0" i="0" u="none" strike="noStrike">
                <a:solidFill>
                  <a:srgbClr val="1B1B1B"/>
                </a:solidFill>
                <a:latin typeface="+mn-ea"/>
                <a:cs typeface="Pretendard Bold"/>
              </a:rPr>
              <a:t>2. 거래처 정보 · 후기 공유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87800" y="7696200"/>
            <a:ext cx="13322300" cy="1562100"/>
          </a:xfrm>
          <a:prstGeom prst="rect">
            <a:avLst/>
          </a:prstGeom>
          <a:effectLst>
            <a:outerShdw blurRad="468630" dir="2700000">
              <a:srgbClr val="1B1B1B">
                <a:alpha val="7000"/>
              </a:srgbClr>
            </a:outerShdw>
          </a:effectLst>
        </p:spPr>
      </p:pic>
      <p:sp>
        <p:nvSpPr>
          <p:cNvPr id="15" name="TextBox 15"/>
          <p:cNvSpPr txBox="1"/>
          <p:nvPr/>
        </p:nvSpPr>
        <p:spPr>
          <a:xfrm>
            <a:off x="5168900" y="8255000"/>
            <a:ext cx="102489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397" b="0" i="0" u="none" strike="noStrike" dirty="0" err="1">
                <a:solidFill>
                  <a:srgbClr val="1B1B1B"/>
                </a:solidFill>
                <a:latin typeface="+mn-ea"/>
                <a:cs typeface="Pretendard Bold"/>
              </a:rPr>
              <a:t>공통</a:t>
            </a:r>
            <a:r>
              <a:rPr lang="en-US" sz="2397" b="0" i="0" u="none" strike="noStrike" dirty="0">
                <a:solidFill>
                  <a:srgbClr val="1B1B1B"/>
                </a:solidFill>
                <a:latin typeface="+mn-ea"/>
                <a:cs typeface="Pretendard Bold"/>
              </a:rPr>
              <a:t> MVP       </a:t>
            </a:r>
            <a:r>
              <a:rPr lang="en-US" sz="2397" b="0" i="0" u="none" strike="noStrike" dirty="0" err="1">
                <a:solidFill>
                  <a:srgbClr val="1B1B1B"/>
                </a:solidFill>
                <a:latin typeface="+mn-ea"/>
                <a:cs typeface="Pretendard Bold"/>
              </a:rPr>
              <a:t>지도</a:t>
            </a:r>
            <a:r>
              <a:rPr lang="en-US" sz="2397" b="0" i="0" u="none" strike="noStrike" dirty="0">
                <a:solidFill>
                  <a:srgbClr val="1B1B1B"/>
                </a:solidFill>
                <a:latin typeface="+mn-ea"/>
                <a:cs typeface="Pretendard Bold"/>
              </a:rPr>
              <a:t> </a:t>
            </a:r>
            <a:r>
              <a:rPr lang="en-US" sz="2397" b="0" i="0" u="none" strike="noStrike" dirty="0" err="1">
                <a:solidFill>
                  <a:srgbClr val="1B1B1B"/>
                </a:solidFill>
                <a:latin typeface="+mn-ea"/>
                <a:cs typeface="Pretendard Bold"/>
              </a:rPr>
              <a:t>기반</a:t>
            </a:r>
            <a:r>
              <a:rPr lang="en-US" sz="2397" b="0" i="0" u="none" strike="noStrike" dirty="0">
                <a:solidFill>
                  <a:srgbClr val="1B1B1B"/>
                </a:solidFill>
                <a:latin typeface="+mn-ea"/>
                <a:cs typeface="Pretendard Bold"/>
              </a:rPr>
              <a:t> </a:t>
            </a:r>
            <a:r>
              <a:rPr lang="en-US" sz="2397" b="0" i="0" u="none" strike="noStrike" dirty="0" err="1">
                <a:solidFill>
                  <a:srgbClr val="1B1B1B"/>
                </a:solidFill>
                <a:latin typeface="+mn-ea"/>
                <a:cs typeface="Pretendard Bold"/>
              </a:rPr>
              <a:t>조회</a:t>
            </a:r>
            <a:r>
              <a:rPr lang="en-US" sz="2397" b="0" i="0" u="none" strike="noStrike" dirty="0">
                <a:solidFill>
                  <a:srgbClr val="1B1B1B"/>
                </a:solidFill>
                <a:latin typeface="+mn-ea"/>
                <a:cs typeface="Pretendard Bold"/>
              </a:rPr>
              <a:t>   +   </a:t>
            </a:r>
            <a:r>
              <a:rPr lang="en-US" sz="2397" b="0" i="0" u="none" strike="noStrike" dirty="0" err="1">
                <a:solidFill>
                  <a:srgbClr val="1B1B1B"/>
                </a:solidFill>
                <a:latin typeface="+mn-ea"/>
                <a:cs typeface="Pretendard Bold"/>
              </a:rPr>
              <a:t>업체</a:t>
            </a:r>
            <a:r>
              <a:rPr lang="en-US" sz="2397" b="0" i="0" u="none" strike="noStrike" dirty="0">
                <a:solidFill>
                  <a:srgbClr val="1B1B1B"/>
                </a:solidFill>
                <a:latin typeface="+mn-ea"/>
                <a:cs typeface="Pretendard Bold"/>
              </a:rPr>
              <a:t> </a:t>
            </a:r>
            <a:r>
              <a:rPr lang="en-US" sz="2397" b="0" i="0" u="none" strike="noStrike" dirty="0" err="1">
                <a:solidFill>
                  <a:srgbClr val="1B1B1B"/>
                </a:solidFill>
                <a:latin typeface="+mn-ea"/>
                <a:cs typeface="Pretendard Bold"/>
              </a:rPr>
              <a:t>조건</a:t>
            </a:r>
            <a:r>
              <a:rPr lang="en-US" sz="2397" b="0" i="0" u="none" strike="noStrike" dirty="0">
                <a:solidFill>
                  <a:srgbClr val="1B1B1B"/>
                </a:solidFill>
                <a:latin typeface="+mn-ea"/>
                <a:cs typeface="Pretendard Bold"/>
              </a:rPr>
              <a:t> </a:t>
            </a:r>
            <a:r>
              <a:rPr lang="en-US" sz="2397" b="0" i="0" u="none" strike="noStrike" dirty="0" err="1">
                <a:solidFill>
                  <a:srgbClr val="1B1B1B"/>
                </a:solidFill>
                <a:latin typeface="+mn-ea"/>
                <a:cs typeface="Pretendard Bold"/>
              </a:rPr>
              <a:t>비교</a:t>
            </a:r>
            <a:r>
              <a:rPr lang="en-US" sz="2397" b="0" i="0" u="none" strike="noStrike" dirty="0">
                <a:solidFill>
                  <a:srgbClr val="1B1B1B"/>
                </a:solidFill>
                <a:latin typeface="+mn-ea"/>
                <a:cs typeface="Pretendard Bold"/>
              </a:rPr>
              <a:t>   +   </a:t>
            </a:r>
            <a:r>
              <a:rPr lang="en-US" sz="2397" b="0" i="0" u="none" strike="noStrike" dirty="0" err="1">
                <a:solidFill>
                  <a:srgbClr val="1B1B1B"/>
                </a:solidFill>
                <a:latin typeface="+mn-ea"/>
                <a:cs typeface="Pretendard Bold"/>
              </a:rPr>
              <a:t>후기</a:t>
            </a:r>
            <a:r>
              <a:rPr lang="en-US" sz="2397" b="0" i="0" u="none" strike="noStrike" dirty="0">
                <a:solidFill>
                  <a:srgbClr val="1B1B1B"/>
                </a:solidFill>
                <a:latin typeface="+mn-ea"/>
                <a:cs typeface="Pretendard Bold"/>
              </a:rPr>
              <a:t>   </a:t>
            </a:r>
            <a:r>
              <a:rPr lang="en-US" sz="2397" dirty="0">
                <a:solidFill>
                  <a:srgbClr val="1B1B1B"/>
                </a:solidFill>
                <a:latin typeface="+mn-ea"/>
                <a:cs typeface="Pretendard Bold"/>
                <a:sym typeface="Wingdings" panose="05000000000000000000" pitchFamily="2" charset="2"/>
              </a:rPr>
              <a:t> </a:t>
            </a:r>
            <a:r>
              <a:rPr lang="en-US" sz="2397" b="0" i="0" u="none" strike="noStrike" dirty="0">
                <a:solidFill>
                  <a:srgbClr val="1B1B1B"/>
                </a:solidFill>
                <a:latin typeface="+mn-ea"/>
                <a:cs typeface="Pretendard Bold"/>
              </a:rPr>
              <a:t>   </a:t>
            </a:r>
            <a:r>
              <a:rPr lang="en-US" sz="2397" b="0" i="0" u="none" strike="noStrike" dirty="0" err="1">
                <a:solidFill>
                  <a:srgbClr val="1B1B1B"/>
                </a:solidFill>
                <a:latin typeface="+mn-ea"/>
                <a:cs typeface="Pretendard Bold"/>
              </a:rPr>
              <a:t>업체</a:t>
            </a:r>
            <a:r>
              <a:rPr lang="en-US" sz="2397" b="0" i="0" u="none" strike="noStrike" dirty="0">
                <a:solidFill>
                  <a:srgbClr val="1B1B1B"/>
                </a:solidFill>
                <a:latin typeface="+mn-ea"/>
                <a:cs typeface="Pretendard Bold"/>
              </a:rPr>
              <a:t> </a:t>
            </a:r>
            <a:r>
              <a:rPr lang="en-US" sz="2397" b="0" i="0" u="none" strike="noStrike" dirty="0" err="1">
                <a:solidFill>
                  <a:srgbClr val="1B1B1B"/>
                </a:solidFill>
                <a:latin typeface="+mn-ea"/>
                <a:cs typeface="Pretendard Bold"/>
              </a:rPr>
              <a:t>선택</a:t>
            </a:r>
            <a:endParaRPr lang="en-US" sz="2397" b="0" i="0" u="none" strike="noStrike" dirty="0">
              <a:solidFill>
                <a:srgbClr val="1B1B1B"/>
              </a:solidFill>
              <a:latin typeface="+mn-ea"/>
              <a:cs typeface="Pretendard Bold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8500" y="4940300"/>
            <a:ext cx="368300" cy="3683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5016500" y="4889500"/>
            <a:ext cx="5537200" cy="8636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450" b="0" i="0" u="none" strike="noStrike">
                <a:solidFill>
                  <a:srgbClr val="1B1B1B"/>
                </a:solidFill>
                <a:latin typeface="+mn-ea"/>
                <a:cs typeface="Pretendard Medium"/>
              </a:rPr>
              <a:t>가격.최소 주문량 비교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760200" y="3911600"/>
            <a:ext cx="5537200" cy="4572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450" b="0" i="0" u="none" strike="noStrike">
                <a:solidFill>
                  <a:srgbClr val="1B1B1B"/>
                </a:solidFill>
                <a:latin typeface="+mn-ea"/>
                <a:cs typeface="Pretendard Medium"/>
              </a:rPr>
              <a:t>지인·주변 가게 선택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760200" y="5969000"/>
            <a:ext cx="5537200" cy="4572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450" b="0" i="0" u="none" strike="noStrike">
                <a:solidFill>
                  <a:srgbClr val="1B1B1B"/>
                </a:solidFill>
                <a:latin typeface="+mn-ea"/>
                <a:cs typeface="Pretendard Medium"/>
              </a:rPr>
              <a:t>후기 공유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14100" y="4978400"/>
            <a:ext cx="368300" cy="3683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1722100" y="4940300"/>
            <a:ext cx="5537200" cy="4572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450" b="0" i="0" u="none" strike="noStrike">
                <a:solidFill>
                  <a:srgbClr val="1B1B1B"/>
                </a:solidFill>
                <a:latin typeface="+mn-ea"/>
                <a:cs typeface="Pretendard Medium"/>
              </a:rPr>
              <a:t>거래처 정보 확인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20411" y="3060700"/>
            <a:ext cx="5537200" cy="4572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ko-KR" altLang="en-US" sz="2450" b="0" i="0" u="none" strike="noStrike" dirty="0">
                <a:solidFill>
                  <a:srgbClr val="1B1B1B"/>
                </a:solidFill>
                <a:latin typeface="+mn-ea"/>
                <a:cs typeface="Pretendard Medium"/>
              </a:rPr>
              <a:t>원하는 조건으로 업체를 검색</a:t>
            </a:r>
            <a:endParaRPr lang="en-US" sz="2450" b="0" i="0" u="none" strike="noStrike" dirty="0">
              <a:solidFill>
                <a:srgbClr val="1B1B1B"/>
              </a:solidFill>
              <a:latin typeface="+mn-ea"/>
              <a:cs typeface="Pretendard Medium"/>
            </a:endParaRPr>
          </a:p>
        </p:txBody>
      </p:sp>
      <p:sp>
        <p:nvSpPr>
          <p:cNvPr id="27" name="TextBox 22">
            <a:extLst>
              <a:ext uri="{FF2B5EF4-FFF2-40B4-BE49-F238E27FC236}">
                <a16:creationId xmlns:a16="http://schemas.microsoft.com/office/drawing/2014/main" id="{0B0227C1-D9E5-E276-5CF3-C8BE92C59252}"/>
              </a:ext>
            </a:extLst>
          </p:cNvPr>
          <p:cNvSpPr txBox="1"/>
          <p:nvPr/>
        </p:nvSpPr>
        <p:spPr>
          <a:xfrm>
            <a:off x="11201400" y="3060700"/>
            <a:ext cx="5537200" cy="4572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ko-KR" altLang="en-US" sz="2450">
                <a:solidFill>
                  <a:srgbClr val="1B1B1B"/>
                </a:solidFill>
                <a:latin typeface="+mn-ea"/>
                <a:cs typeface="Pretendard Medium"/>
              </a:rPr>
              <a:t>지인·주변 가게의 거래처 공유</a:t>
            </a:r>
            <a:endParaRPr lang="en-US" sz="2450" b="0" i="0" u="none" strike="noStrike" dirty="0">
              <a:solidFill>
                <a:srgbClr val="1B1B1B"/>
              </a:solidFill>
              <a:latin typeface="+mn-ea"/>
              <a:cs typeface="Pretendard Medium"/>
            </a:endParaRPr>
          </a:p>
        </p:txBody>
      </p:sp>
      <p:pic>
        <p:nvPicPr>
          <p:cNvPr id="25" name="Picture 22">
            <a:extLst>
              <a:ext uri="{FF2B5EF4-FFF2-40B4-BE49-F238E27FC236}">
                <a16:creationId xmlns:a16="http://schemas.microsoft.com/office/drawing/2014/main" id="{64B6ABB0-2991-BCF2-742D-A82AC66968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57700" y="88900"/>
            <a:ext cx="1142999" cy="12450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2667">
              <a:srgbClr val="FFFFFF"/>
            </a:gs>
            <a:gs pos="100000">
              <a:srgbClr val="FFEDD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457200" y="685800"/>
            <a:ext cx="2489200" cy="63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206500" y="723900"/>
            <a:ext cx="58801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000" b="1" dirty="0">
                <a:solidFill>
                  <a:srgbClr val="1B1B1B"/>
                </a:solidFill>
                <a:latin typeface="+mn-ea"/>
                <a:cs typeface="S-Core Dream 4 Regular"/>
              </a:rPr>
              <a:t>MVP</a:t>
            </a:r>
            <a:endParaRPr lang="en-US" sz="5000" b="1" i="0" u="none" strike="noStrike" dirty="0">
              <a:solidFill>
                <a:srgbClr val="1B1B1B"/>
              </a:solidFill>
              <a:latin typeface="+mn-ea"/>
              <a:cs typeface="S-Core Dream 4 Regular"/>
            </a:endParaRPr>
          </a:p>
        </p:txBody>
      </p:sp>
      <p:pic>
        <p:nvPicPr>
          <p:cNvPr id="7" name="Picture 22">
            <a:extLst>
              <a:ext uri="{FF2B5EF4-FFF2-40B4-BE49-F238E27FC236}">
                <a16:creationId xmlns:a16="http://schemas.microsoft.com/office/drawing/2014/main" id="{013580D6-B537-A5D3-A0D2-2217C35E4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57700" y="88900"/>
            <a:ext cx="1142999" cy="12450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1600" y="1828800"/>
            <a:ext cx="15544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B1B1B"/>
                </a:solidFill>
              </a:rPr>
              <a:t>지금 사장님들은 정보의 격차를 </a:t>
            </a:r>
            <a:r>
              <a:rPr sz="3000" b="1">
                <a:solidFill>
                  <a:srgbClr val="CA591B"/>
                </a:solidFill>
              </a:rPr>
              <a:t>어떻게 메우고 있나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834640"/>
            <a:ext cx="493776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D9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1691640" y="3108960"/>
            <a:ext cx="685800" cy="685800"/>
          </a:xfrm>
          <a:prstGeom prst="ellipse">
            <a:avLst/>
          </a:prstGeom>
          <a:solidFill>
            <a:srgbClr val="CA5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977639"/>
            <a:ext cx="43891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1B1B"/>
                </a:solidFill>
              </a:rPr>
              <a:t>직접 발품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B1B1B"/>
                </a:solidFill>
              </a:rPr>
              <a:t>개업 초기 큰 업체를 10여 곳 방문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8A837B"/>
                </a:solidFill>
              </a:rPr>
              <a:t>하O돼지집 사장님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2834640"/>
            <a:ext cx="493776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D9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6949440" y="3108960"/>
            <a:ext cx="685800" cy="685800"/>
          </a:xfrm>
          <a:prstGeom prst="ellipse">
            <a:avLst/>
          </a:prstGeom>
          <a:solidFill>
            <a:srgbClr val="CA5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977639"/>
            <a:ext cx="43891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1B1B"/>
                </a:solidFill>
              </a:rPr>
              <a:t>주변 사람에게 묻기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B1B1B"/>
                </a:solidFill>
              </a:rPr>
              <a:t>친구에게 물어 업체를 정함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8A837B"/>
                </a:solidFill>
              </a:rPr>
              <a:t>키O 사장님 (한식주점)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0" y="2834640"/>
            <a:ext cx="493776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D9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207240" y="3108960"/>
            <a:ext cx="685800" cy="685800"/>
          </a:xfrm>
          <a:prstGeom prst="ellipse">
            <a:avLst/>
          </a:prstGeom>
          <a:solidFill>
            <a:srgbClr val="CA5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07240" y="3977639"/>
            <a:ext cx="43891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1B1B"/>
                </a:solidFill>
              </a:rPr>
              <a:t>찾아오는 업체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B1B1B"/>
                </a:solidFill>
              </a:rPr>
              <a:t>업체가 1년에 서너 번 홍보 방문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8A837B"/>
                </a:solidFill>
              </a:rPr>
              <a:t>호O고 사장님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6400800"/>
            <a:ext cx="15224759" cy="1143000"/>
          </a:xfrm>
          <a:prstGeom prst="roundRect">
            <a:avLst>
              <a:gd name="adj" fmla="val 12000"/>
            </a:avLst>
          </a:prstGeom>
          <a:solidFill>
            <a:srgbClr val="FCE9DA"/>
          </a:solidFill>
          <a:ln w="25400">
            <a:solidFill>
              <a:srgbClr val="FC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737360" y="6400800"/>
            <a:ext cx="1463040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CA591B"/>
                </a:solidFill>
              </a:rPr>
              <a:t>온라인몰(쿠팡)  </a:t>
            </a:r>
            <a:r>
              <a:rPr sz="2200" b="0">
                <a:solidFill>
                  <a:srgbClr val="1B1B1B"/>
                </a:solidFill>
              </a:rPr>
              <a:t>이미 아는 물건을 더 싸게 사려고 종종 끼워 넣는 용도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7772400"/>
            <a:ext cx="15224759" cy="1463040"/>
          </a:xfrm>
          <a:prstGeom prst="roundRect">
            <a:avLst>
              <a:gd name="adj" fmla="val 12000"/>
            </a:avLst>
          </a:prstGeom>
          <a:solidFill>
            <a:srgbClr val="1B1B1B"/>
          </a:solidFill>
          <a:ln w="2540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37360" y="7772400"/>
            <a:ext cx="1463040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6C9A9"/>
                </a:solidFill>
              </a:rPr>
              <a:t>천하장사  </a:t>
            </a:r>
            <a:r>
              <a:rPr sz="2400" b="1">
                <a:solidFill>
                  <a:srgbClr val="FFFFFF"/>
                </a:solidFill>
              </a:rPr>
              <a:t>흩어진 방법을 한곳에 — 동네에 어떤 업체가 있는지 + 이웃이 실제로 어디를 쓰는지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2667">
              <a:srgbClr val="FFFFFF"/>
            </a:gs>
            <a:gs pos="100000">
              <a:srgbClr val="FFEDD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457200" y="685800"/>
            <a:ext cx="2489200" cy="63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206500" y="723900"/>
            <a:ext cx="58801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000" b="1" dirty="0">
                <a:solidFill>
                  <a:srgbClr val="1B1B1B"/>
                </a:solidFill>
                <a:latin typeface="+mn-ea"/>
                <a:cs typeface="S-Core Dream 4 Regular"/>
              </a:rPr>
              <a:t>Mini Ontology</a:t>
            </a:r>
            <a:endParaRPr lang="en-US" sz="5000" b="1" i="0" u="none" strike="noStrike" dirty="0">
              <a:solidFill>
                <a:srgbClr val="1B1B1B"/>
              </a:solidFill>
              <a:latin typeface="+mn-ea"/>
              <a:cs typeface="S-Core Dream 4 Regular"/>
            </a:endParaRPr>
          </a:p>
        </p:txBody>
      </p:sp>
      <p:pic>
        <p:nvPicPr>
          <p:cNvPr id="7" name="Picture 22">
            <a:extLst>
              <a:ext uri="{FF2B5EF4-FFF2-40B4-BE49-F238E27FC236}">
                <a16:creationId xmlns:a16="http://schemas.microsoft.com/office/drawing/2014/main" id="{013580D6-B537-A5D3-A0D2-2217C35E4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57700" y="88900"/>
            <a:ext cx="1142999" cy="1245052"/>
          </a:xfrm>
          <a:prstGeom prst="rect">
            <a:avLst/>
          </a:prstGeom>
        </p:spPr>
      </p:pic>
      <p:pic>
        <p:nvPicPr>
          <p:cNvPr id="8" name="Picture 7" descr="미니온톨로지_v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1250" y="1638300"/>
            <a:ext cx="13525500" cy="8115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2667">
              <a:srgbClr val="FFFFFF"/>
            </a:gs>
            <a:gs pos="100000">
              <a:srgbClr val="FFEDD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457200" y="685800"/>
            <a:ext cx="2489200" cy="63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206500" y="723900"/>
            <a:ext cx="58801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000" b="1" dirty="0">
                <a:solidFill>
                  <a:srgbClr val="1B1B1B"/>
                </a:solidFill>
                <a:latin typeface="+mn-ea"/>
                <a:cs typeface="S-Core Dream 4 Regular"/>
              </a:rPr>
              <a:t>Mini Ontology</a:t>
            </a:r>
            <a:endParaRPr lang="en-US" sz="5000" b="1" i="0" u="none" strike="noStrike" dirty="0">
              <a:solidFill>
                <a:srgbClr val="1B1B1B"/>
              </a:solidFill>
              <a:latin typeface="+mn-ea"/>
              <a:cs typeface="S-Core Dream 4 Regular"/>
            </a:endParaRPr>
          </a:p>
        </p:txBody>
      </p:sp>
      <p:pic>
        <p:nvPicPr>
          <p:cNvPr id="7" name="Picture 22">
            <a:extLst>
              <a:ext uri="{FF2B5EF4-FFF2-40B4-BE49-F238E27FC236}">
                <a16:creationId xmlns:a16="http://schemas.microsoft.com/office/drawing/2014/main" id="{013580D6-B537-A5D3-A0D2-2217C35E4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57700" y="88900"/>
            <a:ext cx="1142999" cy="12450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1600" y="1828800"/>
            <a:ext cx="15544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CA591B"/>
                </a:solidFill>
              </a:rPr>
              <a:t>핵심 판단  </a:t>
            </a:r>
            <a:r>
              <a:rPr sz="3000" b="1">
                <a:solidFill>
                  <a:srgbClr val="1B1B1B"/>
                </a:solidFill>
              </a:rPr>
              <a:t>업체 ≠ 거래처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743200"/>
            <a:ext cx="15224759" cy="1280160"/>
          </a:xfrm>
          <a:prstGeom prst="roundRect">
            <a:avLst>
              <a:gd name="adj" fmla="val 12000"/>
            </a:avLst>
          </a:prstGeom>
          <a:solidFill>
            <a:srgbClr val="FCE9DA"/>
          </a:solidFill>
          <a:ln w="25400">
            <a:solidFill>
              <a:srgbClr val="FC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37360" y="2743200"/>
            <a:ext cx="1463040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B1B1B"/>
                </a:solidFill>
              </a:rPr>
              <a:t>“제가 가서 사오는 마트는 거래처라고 할 수 없는 게”</a:t>
            </a:r>
            <a:r>
              <a:rPr sz="2000" b="0">
                <a:solidFill>
                  <a:srgbClr val="8A837B"/>
                </a:solidFill>
              </a:rPr>
              <a:t>   — 닭갈비집 사장님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343400"/>
            <a:ext cx="740664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800" y="4572000"/>
            <a:ext cx="429768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B1B1B"/>
                </a:solidFill>
              </a:rPr>
              <a:t>업체</a:t>
            </a:r>
          </a:p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1B1B"/>
                </a:solidFill>
              </a:rPr>
              <a:t>누구나 확인할 수 있는 정보</a:t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8A837B"/>
                </a:solidFill>
              </a:rPr>
              <a:t>배송 지역 · 최소 주문량 · 연락처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4343400"/>
            <a:ext cx="740664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CA59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46920" y="4572000"/>
            <a:ext cx="429768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CA591B"/>
                </a:solidFill>
              </a:rPr>
              <a:t>거래처</a:t>
            </a:r>
          </a:p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1B1B"/>
                </a:solidFill>
              </a:rPr>
              <a:t>받아 써 봐야 아는 정보</a:t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8A837B"/>
                </a:solidFill>
              </a:rPr>
              <a:t>실제로 받은 가격 · 배송 누락 · 품질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7955279"/>
            <a:ext cx="15224759" cy="1280160"/>
          </a:xfrm>
          <a:prstGeom prst="roundRect">
            <a:avLst>
              <a:gd name="adj" fmla="val 12000"/>
            </a:avLst>
          </a:prstGeom>
          <a:solidFill>
            <a:srgbClr val="1B1B1B"/>
          </a:solidFill>
          <a:ln w="2540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37360" y="7955279"/>
            <a:ext cx="1463040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</a:rPr>
              <a:t>정보의 격차는 </a:t>
            </a:r>
            <a:r>
              <a:rPr sz="2400" b="1">
                <a:solidFill>
                  <a:srgbClr val="F6C9A9"/>
                </a:solidFill>
              </a:rPr>
              <a:t>두 번째 정보</a:t>
            </a:r>
            <a:r>
              <a:rPr sz="2400" b="1">
                <a:solidFill>
                  <a:srgbClr val="FFFFFF"/>
                </a:solidFill>
              </a:rPr>
              <a:t>에서 생긴다  →  이 구분이 SPEC의 기준으로 이어진다</a:t>
            </a:r>
          </a:p>
        </p:txBody>
      </p:sp>
      <p:pic>
        <p:nvPicPr>
          <p:cNvPr id="18" name="Picture 17" descr="업체_마트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4709160"/>
            <a:ext cx="2514600" cy="2514600"/>
          </a:xfrm>
          <a:prstGeom prst="rect">
            <a:avLst/>
          </a:prstGeom>
        </p:spPr>
      </p:pic>
      <p:pic>
        <p:nvPicPr>
          <p:cNvPr id="19" name="Picture 18" descr="거래처_납품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44600" y="4709160"/>
            <a:ext cx="25146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03003-4F98-013A-E5AD-FB716C1AE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B7186B9-71D8-7D36-DFF7-B63E3852FE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457200" y="685800"/>
            <a:ext cx="2489200" cy="635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CAC47184-C375-2313-8969-265523D80FFF}"/>
              </a:ext>
            </a:extLst>
          </p:cNvPr>
          <p:cNvSpPr txBox="1"/>
          <p:nvPr/>
        </p:nvSpPr>
        <p:spPr>
          <a:xfrm>
            <a:off x="1282700" y="723900"/>
            <a:ext cx="58801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000" b="1" dirty="0">
                <a:solidFill>
                  <a:srgbClr val="1B1B1B"/>
                </a:solidFill>
                <a:latin typeface="+mn-ea"/>
                <a:cs typeface="S-Core Dream 4 Regular"/>
              </a:rPr>
              <a:t>SPEC</a:t>
            </a:r>
            <a:endParaRPr lang="en-US" sz="5000" b="1" i="0" u="none" strike="noStrike" dirty="0">
              <a:solidFill>
                <a:srgbClr val="1B1B1B"/>
              </a:solidFill>
              <a:latin typeface="+mn-ea"/>
              <a:cs typeface="S-Core Dream 4 Regular"/>
            </a:endParaRPr>
          </a:p>
        </p:txBody>
      </p:sp>
      <p:pic>
        <p:nvPicPr>
          <p:cNvPr id="33" name="Picture 22">
            <a:extLst>
              <a:ext uri="{FF2B5EF4-FFF2-40B4-BE49-F238E27FC236}">
                <a16:creationId xmlns:a16="http://schemas.microsoft.com/office/drawing/2014/main" id="{3EBEA9C8-5518-A78D-0DDC-2072B10DB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57700" y="88900"/>
            <a:ext cx="1142999" cy="124505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9081639-B1C8-52A7-9DC8-FD7CB92740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1854" y="1638300"/>
            <a:ext cx="15864291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631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2667">
              <a:srgbClr val="FFFFFF"/>
            </a:gs>
            <a:gs pos="100000">
              <a:srgbClr val="FFEDD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457200" y="685800"/>
            <a:ext cx="2489200" cy="63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206500" y="723900"/>
            <a:ext cx="58801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000" b="1" dirty="0">
                <a:solidFill>
                  <a:srgbClr val="1B1B1B"/>
                </a:solidFill>
                <a:latin typeface="+mn-ea"/>
                <a:cs typeface="S-Core Dream 4 Regular"/>
              </a:rPr>
              <a:t>SPEC</a:t>
            </a:r>
            <a:endParaRPr lang="en-US" sz="5000" b="1" i="0" u="none" strike="noStrike" dirty="0">
              <a:solidFill>
                <a:srgbClr val="1B1B1B"/>
              </a:solidFill>
              <a:latin typeface="+mn-ea"/>
              <a:cs typeface="S-Core Dream 4 Regular"/>
            </a:endParaRPr>
          </a:p>
        </p:txBody>
      </p:sp>
      <p:pic>
        <p:nvPicPr>
          <p:cNvPr id="7" name="Picture 22">
            <a:extLst>
              <a:ext uri="{FF2B5EF4-FFF2-40B4-BE49-F238E27FC236}">
                <a16:creationId xmlns:a16="http://schemas.microsoft.com/office/drawing/2014/main" id="{013580D6-B537-A5D3-A0D2-2217C35E4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57700" y="88900"/>
            <a:ext cx="1142999" cy="12450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1600" y="1828800"/>
            <a:ext cx="15544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B1B1B"/>
                </a:solidFill>
              </a:rPr>
              <a:t>이 SPEC은 </a:t>
            </a:r>
            <a:r>
              <a:rPr sz="3000" b="1">
                <a:solidFill>
                  <a:srgbClr val="CA591B"/>
                </a:solidFill>
              </a:rPr>
              <a:t>어떻게 확인하나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834640"/>
            <a:ext cx="310896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D9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2834640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1B1B1B"/>
                </a:solidFill>
              </a:rPr>
              <a:t>인터뷰</a:t>
            </a:r>
          </a:p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8A837B"/>
                </a:solidFill>
              </a:rPr>
              <a:t>사장님의 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572000" y="3566160"/>
            <a:ext cx="640080" cy="548640"/>
          </a:xfrm>
          <a:prstGeom prst="rightArrow">
            <a:avLst/>
          </a:prstGeom>
          <a:solidFill>
            <a:srgbClr val="CA5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303520" y="2834640"/>
            <a:ext cx="310896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D9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0" y="2834640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1B1B1B"/>
                </a:solidFill>
              </a:rPr>
              <a:t>미니 온톨로지</a:t>
            </a:r>
          </a:p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8A837B"/>
                </a:solidFill>
              </a:rPr>
              <a:t>개념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503920" y="3566160"/>
            <a:ext cx="640080" cy="548640"/>
          </a:xfrm>
          <a:prstGeom prst="rightArrow">
            <a:avLst/>
          </a:prstGeom>
          <a:solidFill>
            <a:srgbClr val="CA5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235440" y="2834640"/>
            <a:ext cx="310896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D9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0" y="2834640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1B1B1B"/>
                </a:solidFill>
              </a:rPr>
              <a:t>SPEC</a:t>
            </a:r>
          </a:p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8A837B"/>
                </a:solidFill>
              </a:rPr>
              <a:t>기준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2435840" y="3566160"/>
            <a:ext cx="640080" cy="548640"/>
          </a:xfrm>
          <a:prstGeom prst="rightArrow">
            <a:avLst/>
          </a:prstGeom>
          <a:solidFill>
            <a:srgbClr val="CA5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3167359" y="2834640"/>
            <a:ext cx="310896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CA59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167359" y="2834640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1B1B1B"/>
                </a:solidFill>
              </a:rPr>
              <a:t>테스트</a:t>
            </a:r>
          </a:p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8A837B"/>
                </a:solidFill>
              </a:rPr>
              <a:t>예시 데이터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257800"/>
            <a:ext cx="15224759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D9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28800" y="5440680"/>
            <a:ext cx="144475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CA591B"/>
                </a:solidFill>
              </a:rPr>
              <a:t>테스트 예시</a:t>
            </a:r>
          </a:p>
          <a:p>
            <a:pPr algn="l">
              <a:lnSpc>
                <a:spcPct val="115000"/>
              </a:lnSpc>
            </a:pPr>
            <a:r>
              <a:rPr sz="2600" b="1">
                <a:solidFill>
                  <a:srgbClr val="1B1B1B"/>
                </a:solidFill>
              </a:rPr>
              <a:t>배송 지역이 동탄인 업체  ·  영통동 가게에서 검색</a:t>
            </a:r>
          </a:p>
          <a:p>
            <a:pPr algn="l">
              <a:lnSpc>
                <a:spcPct val="115000"/>
              </a:lnSpc>
            </a:pPr>
            <a:r>
              <a:rPr sz="2600" b="1">
                <a:solidFill>
                  <a:srgbClr val="1B1B1B"/>
                </a:solidFill>
              </a:rPr>
              <a:t>→ 목록에 남아 있고 ‘배송 지역 밖’ 표시가 붙어야 합격  /  다르면 실패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8229600"/>
            <a:ext cx="15224759" cy="1097280"/>
          </a:xfrm>
          <a:prstGeom prst="roundRect">
            <a:avLst>
              <a:gd name="adj" fmla="val 12000"/>
            </a:avLst>
          </a:prstGeom>
          <a:solidFill>
            <a:srgbClr val="1B1B1B"/>
          </a:solidFill>
          <a:ln w="2540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37360" y="8229600"/>
            <a:ext cx="146304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</a:rPr>
              <a:t>모든 기준은 인터뷰까지 거슬러 올라간다  ·  근거를 찾지 못한 기준은 넣지 않았다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2667">
              <a:srgbClr val="FFFFFF"/>
            </a:gs>
            <a:gs pos="100000">
              <a:srgbClr val="FFEDD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457200" y="685800"/>
            <a:ext cx="2489200" cy="63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206500" y="723900"/>
            <a:ext cx="58801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000" b="1" dirty="0">
                <a:solidFill>
                  <a:srgbClr val="1B1B1B"/>
                </a:solidFill>
                <a:latin typeface="+mn-ea"/>
                <a:cs typeface="S-Core Dream 4 Regular"/>
              </a:rPr>
              <a:t>Next Step</a:t>
            </a:r>
            <a:endParaRPr lang="en-US" sz="5000" b="1" i="0" u="none" strike="noStrike" dirty="0">
              <a:solidFill>
                <a:srgbClr val="1B1B1B"/>
              </a:solidFill>
              <a:latin typeface="+mn-ea"/>
              <a:cs typeface="S-Core Dream 4 Regular"/>
            </a:endParaRPr>
          </a:p>
        </p:txBody>
      </p:sp>
      <p:pic>
        <p:nvPicPr>
          <p:cNvPr id="7" name="Picture 22">
            <a:extLst>
              <a:ext uri="{FF2B5EF4-FFF2-40B4-BE49-F238E27FC236}">
                <a16:creationId xmlns:a16="http://schemas.microsoft.com/office/drawing/2014/main" id="{013580D6-B537-A5D3-A0D2-2217C35E4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57700" y="88900"/>
            <a:ext cx="1142999" cy="12450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371600" y="2103120"/>
            <a:ext cx="15224759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D9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1828800" y="2834639"/>
            <a:ext cx="685800" cy="685800"/>
          </a:xfrm>
          <a:prstGeom prst="ellipse">
            <a:avLst/>
          </a:prstGeom>
          <a:solidFill>
            <a:srgbClr val="CA5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103120"/>
            <a:ext cx="13258800" cy="2148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1B1B"/>
                </a:solidFill>
              </a:rPr>
              <a:t>개업 준비 중인 사장님</a:t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8A837B"/>
                </a:solidFill>
              </a:rPr>
              <a:t>업체를 처음 정하는 과정을 직접 따라가기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617720"/>
            <a:ext cx="15224759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D9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1828800" y="5349240"/>
            <a:ext cx="685800" cy="685800"/>
          </a:xfrm>
          <a:prstGeom prst="ellipse">
            <a:avLst/>
          </a:prstGeom>
          <a:solidFill>
            <a:srgbClr val="CA5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617720"/>
            <a:ext cx="13258800" cy="2148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1B1B"/>
                </a:solidFill>
              </a:rPr>
              <a:t>거래처 공개 · 커뮤니티</a:t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8A837B"/>
                </a:solidFill>
              </a:rPr>
              <a:t>이웃에게 거래처를 보여 주실지, 대화를 나누실지 같은 방식으로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7132320"/>
            <a:ext cx="15224759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CA59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1828800" y="7863840"/>
            <a:ext cx="685800" cy="685800"/>
          </a:xfrm>
          <a:prstGeom prst="ellipse">
            <a:avLst/>
          </a:prstGeom>
          <a:solidFill>
            <a:srgbClr val="CA5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7132320"/>
            <a:ext cx="13258800" cy="2148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1B1B"/>
                </a:solidFill>
              </a:rPr>
              <a:t>이번 학기 MVP</a:t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8A837B"/>
                </a:solidFill>
              </a:rPr>
              <a:t>한 지역 · 한두 개 품목군으로 답을 낸다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0146EDB-3424-D98B-757C-11DCAA49C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" y="1176703"/>
            <a:ext cx="10074408" cy="7933595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1982" y="1741833"/>
            <a:ext cx="6259068" cy="6803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1532</Words>
  <Application>Microsoft Macintosh PowerPoint</Application>
  <PresentationFormat>사용자 지정</PresentationFormat>
  <Paragraphs>185</Paragraphs>
  <Slides>19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8" baseType="lpstr">
      <vt:lpstr>S-Core Dream 4 Regular</vt:lpstr>
      <vt:lpstr>맑은 고딕</vt:lpstr>
      <vt:lpstr>Pretendard SemiBold</vt:lpstr>
      <vt:lpstr>Pretendard Regular</vt:lpstr>
      <vt:lpstr>Pretendard Medium</vt:lpstr>
      <vt:lpstr>Arial</vt:lpstr>
      <vt:lpstr>Pretendard Bold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박서진</dc:creator>
  <cp:lastModifiedBy>김 민균</cp:lastModifiedBy>
  <cp:revision>12</cp:revision>
  <dcterms:created xsi:type="dcterms:W3CDTF">2006-08-16T00:00:00Z</dcterms:created>
  <dcterms:modified xsi:type="dcterms:W3CDTF">2026-10-14T05:45:58Z</dcterms:modified>
</cp:coreProperties>
</file>